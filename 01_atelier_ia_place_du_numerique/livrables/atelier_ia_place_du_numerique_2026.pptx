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2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44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par une question au public : “Pour vous, c’est quoi l’IA ?” Ne pas corriger immédiatement : laisser sortir robots, ChatGPT, réseaux sociaux, reconnaissance faciale.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le support n’est pas un cours magistral, les slides servent de fil conducteur.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formuler par le public, puis recentrer : IA = données + modèle + prédiction. Éviter le débat conscience / intelligence générale.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Vocal Weather : montrer une application qui combine audio, langage, API métier et synthèse vocale.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: lancer une requête simple. Commenter chaque étape. Insister sur la séparation entre IA et donnée météo. Durée cible : 7–8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démo échoue : montrer un enregistrement préparé et expliquer pourquoi la robustesse est un sujet d’ingénierie.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deviner l’oiseau avant de lancer le modèle si tu veux une interaction légère. Prévoir un cas facile et un cas piège.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semi-live avec vidéo locale. Le public peut compter avant l’IA, mais la participation reste optionnelle.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faire reconnaître le public. Utiliser des visages de test autorisés. Message central : détection ≠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sur toi ou sur un volontaire informé. Pas de mineur, pas de personnalité connue. Ne pas présenter comme une technique de contournement, mais comme une limite de confiance.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Préférer des extraits préparés. Éviter de cloner la voix du public sur place. Message : la voix seule n’authentifie pas une identité.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chaque limite à une démo vue avant : bruit sur Vocal Weather, oiseau inconnu, véhicule masqué, visage/voix manipulables.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adapter au public : jeunes, parents, enseignants, personnes en formation. Rester concret et non anxiogène.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Finir proprement. Inviter aux questions ou proposer une dernière démo courte si du temps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7"/>
          </a:solidFill>
          <a:ln w="12700">
            <a:solidFill>
              <a:srgbClr val="08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320040"/>
            <a:ext cx="4160520" cy="4160520"/>
          </a:xfrm>
          <a:prstGeom prst="arc">
            <a:avLst/>
          </a:prstGeom>
          <a:noFill/>
          <a:ln w="2540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Qu’est-ce que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l’intelligence artificielle 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67512" y="2880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8FF"/>
                </a:solidFill>
              </a:rPr>
              <a:t>Comprendre par la démonstration : reconnaître, compter, transformer, imiter — et vérifier.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" y="3794760"/>
            <a:ext cx="3611880" cy="420624"/>
          </a:xfrm>
          <a:prstGeom prst="roundRect">
            <a:avLst>
              <a:gd name="adj" fmla="val 2173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840480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45 min · démos préparées · public mixte</a:t>
            </a:r>
            <a:endParaRPr lang="en-US" sz="1400" dirty="0"/>
          </a:p>
        </p:txBody>
      </p:sp>
      <p:pic>
        <p:nvPicPr>
          <p:cNvPr id="8" name="Image 0" descr="/mnt/data/a_logo_for_a_weather_voice_assistant_applicati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463040"/>
            <a:ext cx="2514600" cy="2514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ED6"/>
                </a:solidFill>
              </a:rPr>
              <a:t>Place du Numérique 2026 · Place Anatole France, Tours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Objectif : partir du concret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Une définition courte, puis des démonstrations pour comprendre les familles d’IA.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1 · Définir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28895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Ce qu’est l’IA, ce qu’elle n’est pas, et pourquoi on parle de données.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2 · Démontrer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2029968"/>
            <a:ext cx="28895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Météo vocale, oiseaux, véhicules, visage, face swap, voix IA.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419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87968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3 · Relier aux risques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2029968"/>
            <a:ext cx="288950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Erreurs, biais, usurpation, protection des données et vérification.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80160" y="3474720"/>
            <a:ext cx="9509760" cy="0"/>
          </a:xfrm>
          <a:prstGeom prst="line">
            <a:avLst/>
          </a:prstGeom>
          <a:noFill/>
          <a:ln w="381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246120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0–5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" y="41879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Qu’est-ce que l’IA 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87752" y="3246120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3432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5–13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84832" y="41879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Vocal Weather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62272" y="324612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13–25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9352" y="41879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Image : oiseaux + véhicules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36792" y="324612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25–33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33872" y="41879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Identité : visage + biométrie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11312" y="3246120"/>
            <a:ext cx="475488" cy="475488"/>
          </a:xfrm>
          <a:prstGeom prst="ellipse">
            <a:avLst/>
          </a:prstGeom>
          <a:solidFill>
            <a:srgbClr val="F89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33–41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08392" y="41879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Face swap + voix IA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85832" y="3246120"/>
            <a:ext cx="475488" cy="475488"/>
          </a:xfrm>
          <a:prstGeom prst="ellipse">
            <a:avLst/>
          </a:prstGeom>
          <a:solidFill>
            <a:srgbClr val="F89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11512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41–45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82912" y="41879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Limites +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Définition opérationnelle de l’IA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Pour le public : une IA est un système qui apprend à produire une réponse utile à partir de données.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</a:rPr>
              <a:t>Une IA analyse des données pour 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35608" y="2039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Reconnaître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8408" y="2487168"/>
            <a:ext cx="26609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image, voix, visage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38928" y="2039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Classer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81728" y="2487168"/>
            <a:ext cx="26609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oiseau, spam, document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83880" y="187452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48472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42248" y="2039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Prédire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5048" y="2487168"/>
            <a:ext cx="26609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météo, trafic, panne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338328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" y="3547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35608" y="35478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61FF"/>
                </a:solidFill>
              </a:rPr>
              <a:t>Générer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8408" y="3995928"/>
            <a:ext cx="26609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texte, image, voix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80560" y="338328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45152" y="3547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38928" y="35478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Décider / assister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81728" y="3995928"/>
            <a:ext cx="26609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recommandation, alerte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77240" y="5230368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12700">
            <a:solidFill>
              <a:srgbClr val="B7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37667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</a:rPr>
              <a:t>Point clé : l’IA ne “comprend” pas comme un humain. Elle calcule une réponse probable à partir d’exemples.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Les grandes familles à illustrer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Chaque démo correspond à une famille d’IA différente.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5361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15361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Audio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1984248"/>
            <a:ext cx="2843784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transcrire / imiter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Vocal Weather, RVC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5361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15361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Vision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1984248"/>
            <a:ext cx="2843784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détecter / compter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oiseaux, véhicules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4192" y="15361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87968" y="15361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Biométrie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1984248"/>
            <a:ext cx="2843784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identifier / vérifier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reconnaissance faciale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98448" y="3364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61FF"/>
                </a:solidFill>
              </a:rPr>
              <a:t>Générative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" y="3813048"/>
            <a:ext cx="2843784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créer / transformer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face swap, texte, voix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434840" y="320040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99432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93208" y="3364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Langage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36008" y="3813048"/>
            <a:ext cx="2843784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comprendre / reformuler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Ollama Instruct 7B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Message fil rouge : une application IA réelle est souvent une chaîne de briques spécialisées, pas un seul “cerveau magique”.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Démo 1 — Vocal Weather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Une application qui transforme une demande vocale en réponse météo parlée.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pic>
        <p:nvPicPr>
          <p:cNvPr id="7" name="Image 0" descr="/mnt/data/a_logo_for_a_weather_voice_assistant_applicati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143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1704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Exemple utilisateur :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« Est-ce qu’il va pleuvoir demain à Tours ? »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298094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054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07008" y="2953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Flutter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07008" y="3264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capture audio WAV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2240280" y="3364992"/>
            <a:ext cx="2286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468880" y="278892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328" y="298094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328" y="3054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27248" y="2953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FastAPI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127248" y="3264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orchestration backend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4160520" y="3364992"/>
            <a:ext cx="2286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389120" y="278892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44568" y="2980944"/>
            <a:ext cx="384048" cy="384048"/>
          </a:xfrm>
          <a:prstGeom prst="ellipse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4568" y="3054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47488" y="2953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Whisper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047488" y="3264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voix → texte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6080760" y="3364992"/>
            <a:ext cx="2286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309360" y="278892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64808" y="2980944"/>
            <a:ext cx="384048" cy="3840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64808" y="3054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67728" y="2953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Ollama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967728" y="3264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intention météo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8001000" y="3364992"/>
            <a:ext cx="2286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229600" y="278892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85048" y="2980944"/>
            <a:ext cx="384048" cy="384048"/>
          </a:xfrm>
          <a:prstGeom prst="ellipse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85048" y="3054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887968" y="2953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Open‑Meteo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8887968" y="3264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données fiables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9921240" y="3364992"/>
            <a:ext cx="2286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0149840" y="278892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305288" y="2980944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05288" y="3054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808208" y="2953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Ollama + TTS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10808208" y="3264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réponse → voix</a:t>
            </a:r>
            <a:endParaRPr lang="en-US" sz="1180" dirty="0"/>
          </a:p>
        </p:txBody>
      </p:sp>
      <p:sp>
        <p:nvSpPr>
          <p:cNvPr id="44" name="Text 41"/>
          <p:cNvSpPr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Idée à faire passer : l’IA comprend et reformule, mais la météo vient d’une API spécialisée.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Vocal Weather — ce que chaque brique fait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 chaîne est entièrement vocale : entrée WAV → traitement → sortie WAV.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Speech-to-Text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2980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faster-whisper-medium transforme l’audio en texte exploitable.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61FF"/>
                </a:solidFill>
              </a:rPr>
              <a:t>NLU / intention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1847088"/>
            <a:ext cx="2980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Ollama Instruct 7B extrait : ville, date, intention météo.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419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🌦️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87968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C043"/>
                </a:solidFill>
              </a:rPr>
              <a:t>API métier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1847088"/>
            <a:ext cx="2980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Open‑Meteo fournit les données météo réelles.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514600" y="32461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79192" y="34107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172968" y="3410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Réponse naturelle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715768" y="3858768"/>
            <a:ext cx="2980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Le LLM reformule les données en langage humain.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9360" y="32461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73952" y="34107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67728" y="3410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Text-to-Speech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10528" y="3858768"/>
            <a:ext cx="2980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Le TTS convertit la réponse texte en audio WAV pour Flutter.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8680" y="5532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</a:rPr>
              <a:t>Limites à montrer : bruit ambiant, ville ambiguë, latence, hallucination si le LLM n’est pas contraint.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Démo 2 — Reconnaissance d’oiseaux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Classification d’image : choisir une classe parmi celles apprises.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89888" y="14904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Entrée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1938528"/>
            <a:ext cx="21579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Photo d’un oiseau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83280" y="1856232"/>
            <a:ext cx="64008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1325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3367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27448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Modèle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70248" y="1938528"/>
            <a:ext cx="27066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Compare formes, couleurs, textures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69480" y="1856232"/>
            <a:ext cx="64008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5280" y="13258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1987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13648" y="14904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Sortie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56448" y="1938528"/>
            <a:ext cx="2843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Espèce + score de confiance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063240"/>
            <a:ext cx="4983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E293B"/>
                </a:solidFill>
              </a:rPr>
              <a:t>Image nette : généralement fiable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Image floue ou oiseau éloigné : risque d’erreur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Espèce inconnue : le modèle force souvent une réponse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Le score de confiance n’est pas une garantie absolue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3063240"/>
            <a:ext cx="4709160" cy="1965960"/>
          </a:xfrm>
          <a:prstGeom prst="roundRect">
            <a:avLst>
              <a:gd name="adj" fmla="val 3721"/>
            </a:avLst>
          </a:prstGeom>
          <a:solidFill>
            <a:srgbClr val="FFF8E7"/>
          </a:solidFill>
          <a:ln w="12700">
            <a:solidFill>
              <a:srgbClr val="F1D3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337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961E"/>
                </a:solidFill>
              </a:rPr>
              <a:t>Phrase de conclusion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703320"/>
            <a:ext cx="4041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Une IA reconnaît bien ce qu’elle a appris. Hors de son domaine, elle peut se tromper avec assurance.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Démo 3 — Comptage de véhicules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Détection d’objets : localiser plusieurs éléments dans une image ou une vidéo.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35608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Classification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1938528"/>
            <a:ext cx="27066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“Il y a une voiture.”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26280" y="1325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84648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Détection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27448" y="1938528"/>
            <a:ext cx="27066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“Il y a 7 véhicules, ici, ici et ici.”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3991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33688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Comptage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1938528"/>
            <a:ext cx="27066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Additionner les objets détectés dans la scène.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5486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E293B"/>
                </a:solidFill>
              </a:rPr>
              <a:t>Les rectangles de détection montrent où le modèle pense voir un objet.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Le comptage dépend de la qualité vidéo, du cadrage et des occultations.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Une IA peut confondre, doubler ou manquer un objet partiellement visible.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12280" y="297180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E9FBF6"/>
          </a:solidFill>
          <a:ln w="12700">
            <a:solidFill>
              <a:srgbClr val="BDEF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32461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Applications réelles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611880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Trafic, statistiques, sécurité, maintenance, analyse automatique de scènes.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Démo 4 — Reconnaissance faciale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À distinguer : détecter, vérifier, identifier.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65506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282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1627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Détection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35608" y="19385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Le système trouve un visage dans l’image.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65506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7282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1627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Vérification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38928" y="19385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Le système vérifie si le visage correspond à une identité attendue.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183880" y="1463040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1655064"/>
            <a:ext cx="384048" cy="384048"/>
          </a:xfrm>
          <a:prstGeom prst="ellipse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7282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42248" y="1627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Identification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842248" y="19385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Le système cherche qui est la personne dans une base connue.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Donnée biométrique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6112" y="42062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Un visage n’est pas une donnée anodine : on ne peut pas le changer comme un mot de passe.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65392" y="38221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59168" y="38221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Risques à citer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01968" y="4270248"/>
            <a:ext cx="416966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Faux positifs, surveillance, consentement, conservation des données, usage hors contexte.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Démo 5 — Face swap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Transformation du visage en temps réel : utile pour comprendre les risques en visio.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4168" y="1399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Ce que fait le système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1847088"/>
            <a:ext cx="43525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Il suit les points du visage : yeux, nez, bouche, contour, orientation.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59168" y="1399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Ce qui peut trahir le rendu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01968" y="1847088"/>
            <a:ext cx="435254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Contours instables, lunettes mal gérées, cheveux incohérents, bouche désynchronisée.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</a:rPr>
              <a:t>Limites visibles en live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45720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E293B"/>
                </a:solidFill>
              </a:rPr>
              <a:t>mouvement rapide de la tête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main ou objet devant le visage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éclairage très variable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profil marqué / angles extrêmes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9360" y="3063240"/>
            <a:ext cx="4846320" cy="1874520"/>
          </a:xfrm>
          <a:prstGeom prst="roundRect">
            <a:avLst>
              <a:gd name="adj" fmla="val 3902"/>
            </a:avLst>
          </a:prstGeom>
          <a:solidFill>
            <a:srgbClr val="FFF0F4"/>
          </a:solidFill>
          <a:ln w="12700">
            <a:solidFill>
              <a:srgbClr val="F7B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Message sécurité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1968" y="3822192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En visio, voir un visage ne suffit plus toujours à prouver une identité.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Démo 6 — Voix IA / RVC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Conversion vocale : modifier le timbre d’une voix source.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224028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83794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11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Voix source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35608" y="212140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phrase prononcée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017520" y="2240280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1645920"/>
            <a:ext cx="224028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1608" y="1837944"/>
            <a:ext cx="384048" cy="3840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1911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24528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Modèle vocal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24528" y="212140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conversion du timbre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806440" y="2240280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1645920"/>
            <a:ext cx="224028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1837944"/>
            <a:ext cx="384048" cy="384048"/>
          </a:xfrm>
          <a:prstGeom prst="ellipse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911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Voix transformée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13448" y="212140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résultat ressemblant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595360" y="2240280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1645920"/>
            <a:ext cx="224028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448" y="1837944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1911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02368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Écoute critique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802368" y="212140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intonation, artefacts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1005840" y="3794760"/>
            <a:ext cx="97840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E293B"/>
                </a:solidFill>
              </a:rPr>
              <a:t>La voix peut être modifiée sans que la personne imitée parle réellement.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Les défauts apparaissent souvent sur l’émotion, le bruit, les respirations et l’intonation.</a:t>
            </a:r>
            <a:endParaRPr lang="en-US" sz="1800" dirty="0"/>
          </a:p>
          <a:p>
            <a:r>
              <a:rPr lang="en-US" sz="1800" dirty="0">
                <a:solidFill>
                  <a:srgbClr val="1E293B"/>
                </a:solidFill>
              </a:rPr>
              <a:t>Une demande urgente par téléphone doit être vérifiée par un autre canal.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Limites transversales de l’IA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Une IA peut être utile, mais elle dépend de ses données et de son contexte.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44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4168" y="14447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Données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1892808"/>
            <a:ext cx="284378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biaisées, insuffisantes, obsolètes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444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38928" y="14447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Généralisation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1892808"/>
            <a:ext cx="284378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mauvais résultat hors cas appris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2801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39912" y="1444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33688" y="14447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Confiance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1892808"/>
            <a:ext cx="284378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score élevé ≠ vérité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32004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44168" y="3364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61FF"/>
                </a:solidFill>
              </a:rPr>
              <a:t>Hallucination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6968" y="3813048"/>
            <a:ext cx="284378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réponse plausible mais fausse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480560" y="32004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45152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38928" y="3364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Latence &amp; coût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81728" y="3813048"/>
            <a:ext cx="284378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modèles lourds, serveur, réseau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75320" y="32004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39912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933688" y="3364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Vie privée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76488" y="3813048"/>
            <a:ext cx="284378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voix, visage, historique, consentement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Réflexes de protection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Quand l’IA touche à l’image, à la voix ou à l’identité, on vérifie autrement.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⏸️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89888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Ne pas agir dans l’urgence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1847088"/>
            <a:ext cx="298094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Une demande pressante est un signal de risque : virement, code SMS, accès, mot de passe.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☎️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Vérifier par un canal connu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1847088"/>
            <a:ext cx="298094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Rappeler sur un numéro déjà enregistré, utiliser un canal officiel, demander confirmation.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96528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Protéger les données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1847088"/>
            <a:ext cx="298094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Limiter la diffusion de voix, photos, vidéos, documents personnels.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60604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70632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64408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961E"/>
                </a:solidFill>
              </a:rPr>
              <a:t>MFA et procédures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807208" y="4133088"/>
            <a:ext cx="298094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Double authentification, validation interne, historique, journalisation.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936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73952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67728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61FF"/>
                </a:solidFill>
              </a:rPr>
              <a:t>Esprit critique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10528" y="4133088"/>
            <a:ext cx="298094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Croiser image, voix, contexte, source et cohérence de la demande.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Trois idées à retenir.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Place du Numérique · Tours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89888" y="14904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</a:rPr>
              <a:t>1 · L’IA est déjà présente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1938528"/>
            <a:ext cx="302666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Applications mobiles, recherche, assistants vocaux, traduction, recommandations, analyse d’images.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47488" y="14904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</a:rPr>
              <a:t>2 · Elle fonctionne par briques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0288" y="1938528"/>
            <a:ext cx="302666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Transcrire, comprendre, classer, détecter, générer, synthétiser : chaque modèle a son rôle.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8B3C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05088" y="14904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76F"/>
                </a:solidFill>
              </a:rPr>
              <a:t>3 · Elle doit être vérifiée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47888" y="1938528"/>
            <a:ext cx="302666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Les résultats peuvent être faux, biaisés ou détournés : le contexte reste essentiel.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Phrase de clôture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44348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93B"/>
                </a:solidFill>
              </a:rPr>
              <a:t>L’IA est un outil puissant : elle augmente nos capacités, mais elle ne remplace ni l’esprit critique, ni les procédures de vérification.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1676</Words>
  <Application>Microsoft Office PowerPoint</Application>
  <PresentationFormat>Grand écran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Qu’est-ce que l’intelligence artificielle ?</dc:title>
  <dc:subject>Qu’est-ce que l’IA ? — Place du Numérique 2026</dc:subject>
  <dc:creator>ChatGPT</dc:creator>
  <cp:lastModifiedBy>Olivier Rouet</cp:lastModifiedBy>
  <cp:revision>3</cp:revision>
  <dcterms:created xsi:type="dcterms:W3CDTF">2026-05-11T13:14:49Z</dcterms:created>
  <dcterms:modified xsi:type="dcterms:W3CDTF">2026-05-13T08:41:39Z</dcterms:modified>
</cp:coreProperties>
</file>