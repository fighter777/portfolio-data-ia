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fntdata" ContentType="application/x-fontdata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20"/>
  </p:notesMasterIdLst>
  <p:sldIdLst>
    <p:sldId id="256" r:id="rId2"/>
    <p:sldId id="257" r:id="rId3"/>
    <p:sldId id="263" r:id="rId4"/>
    <p:sldId id="264" r:id="rId5"/>
    <p:sldId id="265" r:id="rId6"/>
    <p:sldId id="259" r:id="rId7"/>
    <p:sldId id="266" r:id="rId8"/>
    <p:sldId id="260" r:id="rId9"/>
    <p:sldId id="267" r:id="rId10"/>
    <p:sldId id="274" r:id="rId11"/>
    <p:sldId id="275" r:id="rId12"/>
    <p:sldId id="268" r:id="rId13"/>
    <p:sldId id="269" r:id="rId14"/>
    <p:sldId id="271" r:id="rId15"/>
    <p:sldId id="270" r:id="rId16"/>
    <p:sldId id="272" r:id="rId17"/>
    <p:sldId id="273" r:id="rId18"/>
    <p:sldId id="262" r:id="rId19"/>
  </p:sldIdLst>
  <p:sldSz cx="9144000" cy="5143500" type="screen16x9"/>
  <p:notesSz cx="6858000" cy="9144000"/>
  <p:embeddedFontLst>
    <p:embeddedFont>
      <p:font typeface="Montserrat" panose="020B0604020202020204" charset="0"/>
      <p:regular r:id="rId21"/>
      <p:bold r:id="rId22"/>
      <p:italic r:id="rId23"/>
      <p:boldItalic r:id="rId24"/>
    </p:embeddedFont>
    <p:embeddedFont>
      <p:font typeface="Wingdings 3" panose="05040102010807070707" pitchFamily="18" charset="2"/>
      <p:regular r:id="rId25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 xmlns="">
        <p15:guide id="1" orient="horz" pos="1077">
          <p15:clr>
            <a:srgbClr val="A4A3A4"/>
          </p15:clr>
        </p15:guide>
        <p15:guide id="2" pos="2721">
          <p15:clr>
            <a:srgbClr val="A4A3A4"/>
          </p15:clr>
        </p15:guide>
        <p15:guide id="3" pos="2438">
          <p15:clr>
            <a:srgbClr val="9AA0A6"/>
          </p15:clr>
        </p15:guide>
        <p15:guide id="4" pos="416">
          <p15:clr>
            <a:srgbClr val="9AA0A6"/>
          </p15:clr>
        </p15:guide>
        <p15:guide id="5" pos="1191">
          <p15:clr>
            <a:srgbClr val="9AA0A6"/>
          </p15:clr>
        </p15:guide>
        <p15:guide id="6" pos="638">
          <p15:clr>
            <a:srgbClr val="9AA0A6"/>
          </p15:clr>
        </p15:guide>
      </p15:sldGuideLst>
    </p:ext>
    <p:ext uri="http://customooxmlschemas.google.com/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26" roundtripDataSignature="AMtx7miohyEog1akfKJRRdWquyApPmpAp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4D4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xmlns="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46" d="100"/>
          <a:sy n="146" d="100"/>
        </p:scale>
        <p:origin x="-624" y="-96"/>
      </p:cViewPr>
      <p:guideLst>
        <p:guide orient="horz" pos="1077"/>
        <p:guide pos="2721"/>
        <p:guide pos="2438"/>
        <p:guide pos="416"/>
        <p:guide pos="1191"/>
        <p:guide pos="638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customschemas.google.com/relationships/presentationmetadata" Target="metadata"/><Relationship Id="rId3" Type="http://schemas.openxmlformats.org/officeDocument/2006/relationships/slide" Target="slides/slide2.xml"/><Relationship Id="rId21" Type="http://schemas.openxmlformats.org/officeDocument/2006/relationships/font" Target="fonts/font1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5.fntdata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4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3.fntdata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2.fntdata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438437101"/>
      </p:ext>
    </p:extLst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2" name="Google Shape;52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1" name="Google Shape;61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1" name="Google Shape;61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1" name="Google Shape;61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1" name="Google Shape;61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77" name="Google Shape;77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77" name="Google Shape;77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5" name="Google Shape;85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5" name="Google Shape;85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5" name="Google Shape;85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5" name="Google Shape;85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5" name="Google Shape;85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5" name="Google Shape;85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5" name="Google Shape;85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5" name="Google Shape;85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5" name="Google Shape;85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5" name="Google Shape;85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g13f9e8f1567_0_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1" name="Google Shape;101;g13f9e8f1567_0_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0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10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1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5" name="Google Shape;15;p1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6" name="Google Shape;16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12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9" name="Google Shape;1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13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13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13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1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1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1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15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15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1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16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1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17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" name="Google Shape;37;p17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17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17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1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8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9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9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2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‹N°›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9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" name="Google Shape;7;p9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" name="Google Shape;8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‹N°›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4D40"/>
          </a:solidFill>
          <a:ln w="9525" cap="flat" cmpd="sng">
            <a:solidFill>
              <a:srgbClr val="59595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" name="Google Shape;55;p1"/>
          <p:cNvSpPr txBox="1"/>
          <p:nvPr/>
        </p:nvSpPr>
        <p:spPr>
          <a:xfrm>
            <a:off x="580350" y="981750"/>
            <a:ext cx="7983300" cy="89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 fontScale="47500" lnSpcReduction="20000"/>
          </a:bodyPr>
          <a:lstStyle/>
          <a:p>
            <a:pPr lvl="0" algn="ctr">
              <a:buSzPct val="100000"/>
            </a:pPr>
            <a:r>
              <a:rPr lang="fr-FR" sz="5400" b="1" dirty="0">
                <a:solidFill>
                  <a:srgbClr val="F3F3F3"/>
                </a:solidFill>
                <a:latin typeface="Montserrat"/>
                <a:ea typeface="Montserrat"/>
                <a:cs typeface="Montserrat"/>
                <a:sym typeface="Montserrat"/>
              </a:rPr>
              <a:t>Rapprochement et analyse des données de ventes</a:t>
            </a:r>
            <a:endParaRPr lang="fr-FR" sz="5400" b="1" dirty="0">
              <a:solidFill>
                <a:srgbClr val="F3F3F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56" name="Google Shape;56;p1"/>
          <p:cNvSpPr txBox="1"/>
          <p:nvPr/>
        </p:nvSpPr>
        <p:spPr>
          <a:xfrm>
            <a:off x="4968964" y="3582148"/>
            <a:ext cx="3807680" cy="534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r>
              <a:rPr lang="fr" sz="2000" b="0" i="0" u="none" strike="noStrike" cap="none" dirty="0" smtClean="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Portfolio IA</a:t>
            </a:r>
            <a:endParaRPr sz="2000" b="0" i="0" u="none" strike="noStrike" cap="none" dirty="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57" name="Google Shape;57;p1"/>
          <p:cNvSpPr txBox="1"/>
          <p:nvPr/>
        </p:nvSpPr>
        <p:spPr>
          <a:xfrm>
            <a:off x="4968964" y="3975103"/>
            <a:ext cx="3807680" cy="534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r>
              <a:rPr lang="fr" sz="1800" b="0" i="0" u="none" strike="noStrike" cap="none" dirty="0" smtClean="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Data analyst (greta)</a:t>
            </a:r>
            <a:endParaRPr sz="1800" b="0" i="0" u="none" strike="noStrike" cap="none" dirty="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58" name="Google Shape;58;p1"/>
          <p:cNvSpPr txBox="1"/>
          <p:nvPr/>
        </p:nvSpPr>
        <p:spPr>
          <a:xfrm>
            <a:off x="4968964" y="4368058"/>
            <a:ext cx="3807680" cy="534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r>
              <a:rPr lang="fr" sz="2000" b="0" i="0" u="none" strike="noStrike" cap="none" dirty="0" smtClean="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10 avril 2026</a:t>
            </a:r>
            <a:endParaRPr sz="2000" b="0" i="0" u="none" strike="noStrike" cap="none" dirty="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7" name="Image 6">
            <a:extLst>
              <a:ext uri="{FF2B5EF4-FFF2-40B4-BE49-F238E27FC236}">
                <a16:creationId xmlns="" xmlns:a16="http://schemas.microsoft.com/office/drawing/2014/main" xmlns:lc="http://schemas.openxmlformats.org/drawingml/2006/lockedCanvas" id="{EDB0C5E4-30E1-1A82-4D4F-15940AB2656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94844" y="3475260"/>
            <a:ext cx="1859836" cy="1282076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4"/>
          <p:cNvSpPr/>
          <p:nvPr/>
        </p:nvSpPr>
        <p:spPr>
          <a:xfrm>
            <a:off x="0" y="0"/>
            <a:ext cx="9144000" cy="549974"/>
          </a:xfrm>
          <a:prstGeom prst="rect">
            <a:avLst/>
          </a:prstGeom>
          <a:solidFill>
            <a:srgbClr val="004D40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49803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highlight>
                <a:srgbClr val="B6D7A8"/>
              </a:highlight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" name="Google Shape;65;p4"/>
          <p:cNvSpPr txBox="1"/>
          <p:nvPr/>
        </p:nvSpPr>
        <p:spPr>
          <a:xfrm>
            <a:off x="0" y="0"/>
            <a:ext cx="91440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rPr lang="fr" sz="2500" b="0" i="0" u="none" strike="noStrike" cap="none" dirty="0">
                <a:solidFill>
                  <a:srgbClr val="F3F3F3"/>
                </a:solidFill>
                <a:latin typeface="Montserrat"/>
                <a:ea typeface="Montserrat"/>
                <a:cs typeface="Montserrat"/>
                <a:sym typeface="Montserrat"/>
                <a:extLst>
                  <a:ext uri="http://customooxmlschemas.google.com/">
              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textRoundtripDataId="0"/>
                  </a:ext>
                </a:extLst>
              </a:rPr>
              <a:t>Analyses </a:t>
            </a:r>
            <a:r>
              <a:rPr lang="fr" sz="2500" dirty="0">
                <a:solidFill>
                  <a:srgbClr val="F3F3F3"/>
                </a:solidFill>
                <a:latin typeface="Montserrat"/>
                <a:ea typeface="Montserrat"/>
                <a:cs typeface="Montserrat"/>
                <a:sym typeface="Montserrat"/>
                <a:extLst>
                  <a:ext uri="http://customooxmlschemas.google.com/">
              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textRoundtripDataId="1"/>
                  </a:ext>
                </a:extLst>
              </a:rPr>
              <a:t>Exploratoires</a:t>
            </a:r>
            <a:r>
              <a:rPr lang="fr" sz="2500" b="0" i="0" u="none" strike="noStrike" cap="none" dirty="0">
                <a:solidFill>
                  <a:srgbClr val="F3F3F3"/>
                </a:solidFill>
                <a:latin typeface="Montserrat"/>
                <a:ea typeface="Montserrat"/>
                <a:cs typeface="Montserrat"/>
                <a:sym typeface="Montserrat"/>
                <a:extLst>
                  <a:ext uri="http://customooxmlschemas.google.com/">
              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textRoundtripDataId="2"/>
                  </a:ext>
                </a:extLst>
              </a:rPr>
              <a:t> des Données </a:t>
            </a:r>
            <a:endParaRPr sz="2500" b="0" i="0" u="none" strike="noStrike" cap="none" dirty="0">
              <a:solidFill>
                <a:srgbClr val="F3F3F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66" name="Google Shape;66;p4"/>
          <p:cNvSpPr/>
          <p:nvPr/>
        </p:nvSpPr>
        <p:spPr>
          <a:xfrm>
            <a:off x="1551671" y="499574"/>
            <a:ext cx="452700" cy="50400"/>
          </a:xfrm>
          <a:prstGeom prst="rect">
            <a:avLst/>
          </a:prstGeom>
          <a:solidFill>
            <a:srgbClr val="F3F3F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7" name="Image 6">
            <a:extLst>
              <a:ext uri="{FF2B5EF4-FFF2-40B4-BE49-F238E27FC236}">
                <a16:creationId xmlns="" xmlns:a16="http://schemas.microsoft.com/office/drawing/2014/main" xmlns:lc="http://schemas.openxmlformats.org/drawingml/2006/lockedCanvas" id="{D66ACB50-2D7E-E0BB-6581-2EFE37B7B95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80398" y="716609"/>
            <a:ext cx="4983204" cy="3710281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109728" y="4599078"/>
            <a:ext cx="8750808" cy="3450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14300" indent="0" algn="ctr">
              <a:lnSpc>
                <a:spcPct val="155000"/>
              </a:lnSpc>
              <a:buNone/>
            </a:pPr>
            <a:r>
              <a:rPr lang="fr-FR" sz="1200" b="1" u="sng" dirty="0" smtClean="0">
                <a:solidFill>
                  <a:srgbClr val="004D40"/>
                </a:solidFill>
                <a:latin typeface="Montserrat"/>
                <a:ea typeface="Montserrat"/>
                <a:cs typeface="Montserrat"/>
                <a:sym typeface="Montserrat"/>
              </a:rPr>
              <a:t>Aucune donnée personnelle n’est présente dans les </a:t>
            </a:r>
            <a:r>
              <a:rPr lang="fr-FR" sz="1200" b="1" u="sng" dirty="0" err="1" smtClean="0">
                <a:solidFill>
                  <a:srgbClr val="004D40"/>
                </a:solidFill>
                <a:latin typeface="Montserrat"/>
                <a:ea typeface="Montserrat"/>
                <a:cs typeface="Montserrat"/>
                <a:sym typeface="Montserrat"/>
              </a:rPr>
              <a:t>datasets</a:t>
            </a:r>
            <a:r>
              <a:rPr lang="fr-FR" sz="1200" b="1" u="sng" dirty="0" smtClean="0">
                <a:solidFill>
                  <a:srgbClr val="004D40"/>
                </a:solidFill>
                <a:latin typeface="Montserrat"/>
                <a:ea typeface="Montserrat"/>
                <a:cs typeface="Montserrat"/>
                <a:sym typeface="Montserrat"/>
              </a:rPr>
              <a:t>, il n’y a donc pas d’enjeu RGPD dans ce projet</a:t>
            </a:r>
            <a:r>
              <a:rPr lang="fr-FR" sz="1200" i="1" u="sng" dirty="0" smtClean="0">
                <a:solidFill>
                  <a:srgbClr val="004D40"/>
                </a:solidFill>
                <a:latin typeface="Montserrat"/>
                <a:ea typeface="Montserrat"/>
                <a:cs typeface="Montserrat"/>
                <a:sym typeface="Montserrat"/>
              </a:rPr>
              <a:t>.</a:t>
            </a:r>
            <a:endParaRPr lang="fr-FR" sz="1200" i="1" u="sng" dirty="0">
              <a:solidFill>
                <a:srgbClr val="004D4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4"/>
          <p:cNvSpPr/>
          <p:nvPr/>
        </p:nvSpPr>
        <p:spPr>
          <a:xfrm>
            <a:off x="0" y="0"/>
            <a:ext cx="9144000" cy="549974"/>
          </a:xfrm>
          <a:prstGeom prst="rect">
            <a:avLst/>
          </a:prstGeom>
          <a:solidFill>
            <a:srgbClr val="004D40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49803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highlight>
                <a:srgbClr val="B6D7A8"/>
              </a:highlight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" name="Google Shape;65;p4"/>
          <p:cNvSpPr txBox="1"/>
          <p:nvPr/>
        </p:nvSpPr>
        <p:spPr>
          <a:xfrm>
            <a:off x="0" y="0"/>
            <a:ext cx="91440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lvl="0" algn="ctr">
              <a:buSzPts val="2500"/>
            </a:pPr>
            <a:r>
              <a:rPr lang="fr-FR" sz="2500" dirty="0">
                <a:solidFill>
                  <a:srgbClr val="F3F3F3"/>
                </a:solidFill>
                <a:latin typeface="Montserrat"/>
                <a:ea typeface="Montserrat"/>
                <a:cs typeface="Montserrat"/>
                <a:sym typeface="Montserrat"/>
              </a:rPr>
              <a:t>Principales anomalies détectées</a:t>
            </a:r>
            <a:endParaRPr lang="fr-FR" sz="2500" dirty="0">
              <a:solidFill>
                <a:srgbClr val="F3F3F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66" name="Google Shape;66;p4"/>
          <p:cNvSpPr/>
          <p:nvPr/>
        </p:nvSpPr>
        <p:spPr>
          <a:xfrm>
            <a:off x="1551671" y="499574"/>
            <a:ext cx="452700" cy="50400"/>
          </a:xfrm>
          <a:prstGeom prst="rect">
            <a:avLst/>
          </a:prstGeom>
          <a:solidFill>
            <a:srgbClr val="F3F3F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" name="ZoneTexte 12">
            <a:extLst>
              <a:ext uri="{FF2B5EF4-FFF2-40B4-BE49-F238E27FC236}">
                <a16:creationId xmlns="" xmlns:a16="http://schemas.microsoft.com/office/drawing/2014/main" xmlns:lc="http://schemas.openxmlformats.org/drawingml/2006/lockedCanvas" id="{8BFCD29B-D948-AC63-18AF-BDF884B24155}"/>
              </a:ext>
            </a:extLst>
          </p:cNvPr>
          <p:cNvSpPr txBox="1"/>
          <p:nvPr/>
        </p:nvSpPr>
        <p:spPr>
          <a:xfrm>
            <a:off x="2004371" y="1643836"/>
            <a:ext cx="2218295" cy="16004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fr-FR" dirty="0" smtClean="0"/>
              <a:t>Incohérences :</a:t>
            </a:r>
          </a:p>
          <a:p>
            <a:endParaRPr lang="fr-FR" dirty="0"/>
          </a:p>
          <a:p>
            <a:r>
              <a:rPr lang="fr-FR" dirty="0" smtClean="0"/>
              <a:t>Homogénéité </a:t>
            </a:r>
            <a:r>
              <a:rPr lang="fr-FR" dirty="0"/>
              <a:t>code SKU</a:t>
            </a:r>
          </a:p>
          <a:p>
            <a:r>
              <a:rPr lang="fr-FR" dirty="0" smtClean="0"/>
              <a:t/>
            </a:r>
            <a:br>
              <a:rPr lang="fr-FR" dirty="0" smtClean="0"/>
            </a:br>
            <a:r>
              <a:rPr lang="fr-FR" dirty="0" smtClean="0"/>
              <a:t>Id </a:t>
            </a:r>
            <a:r>
              <a:rPr lang="fr-FR" dirty="0"/>
              <a:t>dans liaison</a:t>
            </a:r>
          </a:p>
          <a:p>
            <a:endParaRPr lang="fr-FR" dirty="0"/>
          </a:p>
          <a:p>
            <a:r>
              <a:rPr lang="fr-FR" dirty="0"/>
              <a:t>Valeurs manquantes</a:t>
            </a:r>
          </a:p>
        </p:txBody>
      </p:sp>
      <p:sp>
        <p:nvSpPr>
          <p:cNvPr id="10" name="ZoneTexte 8">
            <a:extLst>
              <a:ext uri="{FF2B5EF4-FFF2-40B4-BE49-F238E27FC236}">
                <a16:creationId xmlns="" xmlns:a16="http://schemas.microsoft.com/office/drawing/2014/main" xmlns:lc="http://schemas.openxmlformats.org/drawingml/2006/lockedCanvas" id="{E51AD9B6-B0F8-91D3-DE77-8EC1D03F6C05}"/>
              </a:ext>
            </a:extLst>
          </p:cNvPr>
          <p:cNvSpPr txBox="1"/>
          <p:nvPr/>
        </p:nvSpPr>
        <p:spPr>
          <a:xfrm>
            <a:off x="5584261" y="1425666"/>
            <a:ext cx="2218295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fr-FR" dirty="0" smtClean="0"/>
              <a:t>Problèmes de valeurs :</a:t>
            </a:r>
          </a:p>
          <a:p>
            <a:endParaRPr lang="fr-FR" dirty="0"/>
          </a:p>
          <a:p>
            <a:r>
              <a:rPr lang="fr-FR" dirty="0" smtClean="0"/>
              <a:t>Prix </a:t>
            </a:r>
            <a:r>
              <a:rPr lang="fr-FR" dirty="0"/>
              <a:t>négatif </a:t>
            </a:r>
          </a:p>
          <a:p>
            <a:endParaRPr lang="fr-FR" dirty="0"/>
          </a:p>
          <a:p>
            <a:r>
              <a:rPr lang="fr-FR" dirty="0"/>
              <a:t>Prix négatif et en </a:t>
            </a:r>
            <a:r>
              <a:rPr lang="fr-FR" dirty="0" smtClean="0"/>
              <a:t>stock</a:t>
            </a:r>
          </a:p>
          <a:p>
            <a:endParaRPr lang="fr-FR" dirty="0"/>
          </a:p>
          <a:p>
            <a:r>
              <a:rPr lang="fr-FR" dirty="0"/>
              <a:t>Prix vente &lt; prix achat</a:t>
            </a:r>
          </a:p>
          <a:p>
            <a:endParaRPr lang="fr-FR" dirty="0"/>
          </a:p>
          <a:p>
            <a:r>
              <a:rPr lang="fr-FR" dirty="0"/>
              <a:t>Taux de marge négatif</a:t>
            </a:r>
          </a:p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85940977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4"/>
          <p:cNvSpPr/>
          <p:nvPr/>
        </p:nvSpPr>
        <p:spPr>
          <a:xfrm>
            <a:off x="0" y="0"/>
            <a:ext cx="9144000" cy="549974"/>
          </a:xfrm>
          <a:prstGeom prst="rect">
            <a:avLst/>
          </a:prstGeom>
          <a:solidFill>
            <a:srgbClr val="004D40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49803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highlight>
                <a:srgbClr val="B6D7A8"/>
              </a:highlight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" name="Google Shape;65;p4"/>
          <p:cNvSpPr txBox="1"/>
          <p:nvPr/>
        </p:nvSpPr>
        <p:spPr>
          <a:xfrm>
            <a:off x="0" y="0"/>
            <a:ext cx="91440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lvl="0" algn="ctr">
              <a:buSzPts val="2500"/>
            </a:pPr>
            <a:r>
              <a:rPr lang="fr-FR" sz="2500" dirty="0">
                <a:solidFill>
                  <a:srgbClr val="F3F3F3"/>
                </a:solidFill>
                <a:latin typeface="Montserrat"/>
                <a:ea typeface="Montserrat"/>
                <a:cs typeface="Montserrat"/>
                <a:sym typeface="Montserrat"/>
              </a:rPr>
              <a:t>Principales anomalies détectées</a:t>
            </a:r>
            <a:endParaRPr lang="fr-FR" sz="2500" dirty="0">
              <a:solidFill>
                <a:srgbClr val="F3F3F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66" name="Google Shape;66;p4"/>
          <p:cNvSpPr/>
          <p:nvPr/>
        </p:nvSpPr>
        <p:spPr>
          <a:xfrm>
            <a:off x="1551671" y="499574"/>
            <a:ext cx="452700" cy="50400"/>
          </a:xfrm>
          <a:prstGeom prst="rect">
            <a:avLst/>
          </a:prstGeom>
          <a:solidFill>
            <a:srgbClr val="F3F3F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109728" y="4599078"/>
            <a:ext cx="8750808" cy="3450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14300" indent="0" algn="ctr">
              <a:lnSpc>
                <a:spcPct val="155000"/>
              </a:lnSpc>
              <a:buNone/>
            </a:pPr>
            <a:r>
              <a:rPr lang="fr-FR" sz="1200" b="1" u="sng" dirty="0" smtClean="0">
                <a:solidFill>
                  <a:srgbClr val="004D40"/>
                </a:solidFill>
                <a:latin typeface="Montserrat"/>
                <a:ea typeface="Montserrat"/>
                <a:cs typeface="Montserrat"/>
                <a:sym typeface="Montserrat"/>
              </a:rPr>
              <a:t>Aucune donnée personnelle n’est présente dans les </a:t>
            </a:r>
            <a:r>
              <a:rPr lang="fr-FR" sz="1200" b="1" u="sng" dirty="0" err="1" smtClean="0">
                <a:solidFill>
                  <a:srgbClr val="004D40"/>
                </a:solidFill>
                <a:latin typeface="Montserrat"/>
                <a:ea typeface="Montserrat"/>
                <a:cs typeface="Montserrat"/>
                <a:sym typeface="Montserrat"/>
              </a:rPr>
              <a:t>datasets</a:t>
            </a:r>
            <a:r>
              <a:rPr lang="fr-FR" sz="1200" b="1" u="sng" dirty="0" smtClean="0">
                <a:solidFill>
                  <a:srgbClr val="004D40"/>
                </a:solidFill>
                <a:latin typeface="Montserrat"/>
                <a:ea typeface="Montserrat"/>
                <a:cs typeface="Montserrat"/>
                <a:sym typeface="Montserrat"/>
              </a:rPr>
              <a:t>, il n’y a donc pas d’enjeu RGPD dans ce projet</a:t>
            </a:r>
            <a:r>
              <a:rPr lang="fr-FR" sz="1200" i="1" u="sng" dirty="0" smtClean="0">
                <a:solidFill>
                  <a:srgbClr val="004D40"/>
                </a:solidFill>
                <a:latin typeface="Montserrat"/>
                <a:ea typeface="Montserrat"/>
                <a:cs typeface="Montserrat"/>
                <a:sym typeface="Montserrat"/>
              </a:rPr>
              <a:t>.</a:t>
            </a:r>
            <a:endParaRPr lang="fr-FR" sz="1200" i="1" u="sng" dirty="0">
              <a:solidFill>
                <a:srgbClr val="004D4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8" name="Image 7">
            <a:extLst>
              <a:ext uri="{FF2B5EF4-FFF2-40B4-BE49-F238E27FC236}">
                <a16:creationId xmlns="" xmlns:a16="http://schemas.microsoft.com/office/drawing/2014/main" xmlns:lc="http://schemas.openxmlformats.org/drawingml/2006/lockedCanvas" id="{AB8E58DE-FEC2-83DA-F0B9-9AABD18D417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834" y="851688"/>
            <a:ext cx="9020332" cy="27268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0470307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4"/>
          <p:cNvSpPr/>
          <p:nvPr/>
        </p:nvSpPr>
        <p:spPr>
          <a:xfrm>
            <a:off x="0" y="-1"/>
            <a:ext cx="9144000" cy="607423"/>
          </a:xfrm>
          <a:prstGeom prst="rect">
            <a:avLst/>
          </a:prstGeom>
          <a:solidFill>
            <a:srgbClr val="004D40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49803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highlight>
                <a:srgbClr val="B6D7A8"/>
              </a:highlight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" name="Google Shape;65;p4"/>
          <p:cNvSpPr txBox="1"/>
          <p:nvPr/>
        </p:nvSpPr>
        <p:spPr>
          <a:xfrm>
            <a:off x="0" y="0"/>
            <a:ext cx="8956624" cy="6074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lvl="0" algn="ctr">
              <a:buSzPts val="2500"/>
            </a:pPr>
            <a:r>
              <a:rPr lang="fr-FR" sz="2500" dirty="0">
                <a:solidFill>
                  <a:srgbClr val="F3F3F3"/>
                </a:solidFill>
                <a:latin typeface="Montserrat"/>
                <a:ea typeface="Montserrat"/>
                <a:cs typeface="Montserrat"/>
                <a:sym typeface="Montserrat"/>
              </a:rPr>
              <a:t>Fusion ou consolidations des données</a:t>
            </a:r>
            <a:endParaRPr lang="fr-FR" sz="2500" dirty="0">
              <a:solidFill>
                <a:srgbClr val="F3F3F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66" name="Google Shape;66;p4"/>
          <p:cNvSpPr/>
          <p:nvPr/>
        </p:nvSpPr>
        <p:spPr>
          <a:xfrm>
            <a:off x="1281201" y="449174"/>
            <a:ext cx="452700" cy="50400"/>
          </a:xfrm>
          <a:prstGeom prst="rect">
            <a:avLst/>
          </a:prstGeom>
          <a:solidFill>
            <a:srgbClr val="F3F3F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7" name="Image 6">
            <a:extLst>
              <a:ext uri="{FF2B5EF4-FFF2-40B4-BE49-F238E27FC236}">
                <a16:creationId xmlns="" xmlns:a16="http://schemas.microsoft.com/office/drawing/2014/main" xmlns:lc="http://schemas.openxmlformats.org/drawingml/2006/lockedCanvas" id="{5E836644-D0BF-F606-363E-BF0FDC5E319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7376" y="1411856"/>
            <a:ext cx="3093051" cy="2319788"/>
          </a:xfrm>
          <a:prstGeom prst="rect">
            <a:avLst/>
          </a:prstGeom>
        </p:spPr>
      </p:pic>
      <p:pic>
        <p:nvPicPr>
          <p:cNvPr id="9" name="Image 8">
            <a:extLst>
              <a:ext uri="{FF2B5EF4-FFF2-40B4-BE49-F238E27FC236}">
                <a16:creationId xmlns="" xmlns:a16="http://schemas.microsoft.com/office/drawing/2014/main" xmlns:lc="http://schemas.openxmlformats.org/drawingml/2006/lockedCanvas" id="{B330AFF0-2B84-F860-C097-610E4C59BD0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02414" y="1411856"/>
            <a:ext cx="5454210" cy="2238536"/>
          </a:xfrm>
          <a:prstGeom prst="rect">
            <a:avLst/>
          </a:prstGeom>
          <a:ln>
            <a:solidFill>
              <a:srgbClr val="4D0801"/>
            </a:solidFill>
          </a:ln>
        </p:spPr>
      </p:pic>
    </p:spTree>
    <p:extLst>
      <p:ext uri="{BB962C8B-B14F-4D97-AF65-F5344CB8AC3E}">
        <p14:creationId xmlns:p14="http://schemas.microsoft.com/office/powerpoint/2010/main" val="10897045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6"/>
          <p:cNvSpPr txBox="1">
            <a:spLocks noGrp="1"/>
          </p:cNvSpPr>
          <p:nvPr>
            <p:ph type="body" idx="1"/>
          </p:nvPr>
        </p:nvSpPr>
        <p:spPr>
          <a:xfrm>
            <a:off x="557279" y="1528607"/>
            <a:ext cx="67095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92500" lnSpcReduction="20000"/>
          </a:bodyPr>
          <a:lstStyle/>
          <a:p>
            <a:pPr>
              <a:buNone/>
            </a:pPr>
            <a:r>
              <a:rPr lang="fr-FR" b="1" u="sng" dirty="0">
                <a:solidFill>
                  <a:srgbClr val="004D40"/>
                </a:solidFill>
              </a:rPr>
              <a:t>Méthode </a:t>
            </a:r>
          </a:p>
          <a:p>
            <a:pPr>
              <a:buNone/>
            </a:pPr>
            <a:endParaRPr lang="fr-FR" sz="1000" dirty="0">
              <a:solidFill>
                <a:schemeClr val="tx1"/>
              </a:solidFill>
            </a:endParaRPr>
          </a:p>
          <a:p>
            <a:pPr>
              <a:buNone/>
            </a:pPr>
            <a:r>
              <a:rPr lang="fr-FR" dirty="0">
                <a:solidFill>
                  <a:schemeClr val="tx1"/>
                </a:solidFill>
              </a:rPr>
              <a:t>méthode IQR (écart interquartile)</a:t>
            </a:r>
          </a:p>
          <a:p>
            <a:pPr>
              <a:buNone/>
            </a:pPr>
            <a:r>
              <a:rPr lang="fr-FR" altLang="fr-FR" dirty="0">
                <a:solidFill>
                  <a:schemeClr val="tx1"/>
                </a:solidFill>
              </a:rPr>
              <a:t>Z-scores (&gt; |3|) pour identifier les anomalies de prix</a:t>
            </a:r>
          </a:p>
          <a:p>
            <a:pPr marL="114300" indent="0">
              <a:buNone/>
            </a:pPr>
            <a:endParaRPr lang="fr-FR" dirty="0">
              <a:solidFill>
                <a:schemeClr val="tx1"/>
              </a:solidFill>
            </a:endParaRPr>
          </a:p>
          <a:p>
            <a:pPr>
              <a:buNone/>
            </a:pPr>
            <a:r>
              <a:rPr lang="fr-FR" b="1" u="sng" dirty="0">
                <a:solidFill>
                  <a:srgbClr val="004D40"/>
                </a:solidFill>
              </a:rPr>
              <a:t>Objectif </a:t>
            </a:r>
          </a:p>
          <a:p>
            <a:pPr>
              <a:buNone/>
            </a:pPr>
            <a:endParaRPr lang="fr-FR" sz="1000" b="1" u="sng" dirty="0">
              <a:solidFill>
                <a:srgbClr val="4D0801"/>
              </a:solidFill>
            </a:endParaRPr>
          </a:p>
          <a:p>
            <a:pPr>
              <a:buNone/>
            </a:pPr>
            <a:r>
              <a:rPr lang="fr-FR" dirty="0">
                <a:solidFill>
                  <a:schemeClr val="tx1"/>
                </a:solidFill>
              </a:rPr>
              <a:t>Comprendre la distribution des prix </a:t>
            </a:r>
          </a:p>
          <a:p>
            <a:pPr>
              <a:buNone/>
            </a:pPr>
            <a:r>
              <a:rPr lang="fr-FR" dirty="0">
                <a:solidFill>
                  <a:schemeClr val="tx1"/>
                </a:solidFill>
              </a:rPr>
              <a:t>(répartition des prix, tendance centrale, détection des </a:t>
            </a:r>
            <a:r>
              <a:rPr lang="fr-FR" dirty="0" err="1">
                <a:solidFill>
                  <a:schemeClr val="tx1"/>
                </a:solidFill>
              </a:rPr>
              <a:t>outliers</a:t>
            </a:r>
            <a:r>
              <a:rPr lang="fr-FR" dirty="0">
                <a:solidFill>
                  <a:schemeClr val="tx1"/>
                </a:solidFill>
              </a:rPr>
              <a:t>)</a:t>
            </a:r>
          </a:p>
          <a:p>
            <a:pPr>
              <a:buNone/>
            </a:pPr>
            <a:endParaRPr lang="fr-FR" dirty="0">
              <a:solidFill>
                <a:schemeClr val="tx1"/>
              </a:solidFill>
            </a:endParaRPr>
          </a:p>
          <a:p>
            <a:pPr>
              <a:buNone/>
            </a:pPr>
            <a:r>
              <a:rPr lang="fr-FR" b="1" u="sng" dirty="0">
                <a:solidFill>
                  <a:srgbClr val="004D40"/>
                </a:solidFill>
              </a:rPr>
              <a:t>Visualisation</a:t>
            </a:r>
          </a:p>
          <a:p>
            <a:pPr>
              <a:buNone/>
            </a:pPr>
            <a:endParaRPr lang="fr-FR" sz="1000" b="1" u="sng" dirty="0">
              <a:solidFill>
                <a:srgbClr val="4D0801"/>
              </a:solidFill>
            </a:endParaRP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fr-FR" altLang="fr-FR" dirty="0">
                <a:solidFill>
                  <a:schemeClr val="tx1"/>
                </a:solidFill>
              </a:rPr>
              <a:t>  </a:t>
            </a:r>
            <a:r>
              <a:rPr lang="fr-FR" altLang="fr-FR" dirty="0" err="1">
                <a:solidFill>
                  <a:schemeClr val="tx1"/>
                </a:solidFill>
              </a:rPr>
              <a:t>Boxplot</a:t>
            </a:r>
            <a:r>
              <a:rPr lang="fr-FR" altLang="fr-FR" dirty="0">
                <a:solidFill>
                  <a:schemeClr val="tx1"/>
                </a:solidFill>
              </a:rPr>
              <a:t> (détection IQR des valeurs extrêmes)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fr-FR" altLang="fr-FR" dirty="0">
                <a:solidFill>
                  <a:schemeClr val="tx1"/>
                </a:solidFill>
              </a:rPr>
              <a:t>  Graphiques en barres (tops 20)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fr-FR" altLang="fr-FR" dirty="0">
                <a:solidFill>
                  <a:schemeClr val="tx1"/>
                </a:solidFill>
              </a:rPr>
              <a:t>  </a:t>
            </a:r>
            <a:r>
              <a:rPr lang="fr-FR" altLang="fr-FR" dirty="0" err="1">
                <a:solidFill>
                  <a:schemeClr val="tx1"/>
                </a:solidFill>
              </a:rPr>
              <a:t>Heatmap</a:t>
            </a:r>
            <a:r>
              <a:rPr lang="fr-FR" altLang="fr-FR" dirty="0">
                <a:solidFill>
                  <a:schemeClr val="tx1"/>
                </a:solidFill>
              </a:rPr>
              <a:t> &amp; tableau (corrélations)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endParaRPr lang="fr-FR" altLang="fr-FR" dirty="0">
              <a:solidFill>
                <a:schemeClr val="tx1"/>
              </a:solidFill>
            </a:endParaRP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endParaRPr lang="fr-FR" b="1" u="sng" dirty="0">
              <a:solidFill>
                <a:srgbClr val="4D0801"/>
              </a:solidFill>
            </a:endParaRPr>
          </a:p>
        </p:txBody>
      </p:sp>
      <p:sp>
        <p:nvSpPr>
          <p:cNvPr id="80" name="Google Shape;80;p6"/>
          <p:cNvSpPr/>
          <p:nvPr/>
        </p:nvSpPr>
        <p:spPr>
          <a:xfrm>
            <a:off x="0" y="0"/>
            <a:ext cx="9144000" cy="1390200"/>
          </a:xfrm>
          <a:prstGeom prst="rect">
            <a:avLst/>
          </a:prstGeom>
          <a:solidFill>
            <a:srgbClr val="004D40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1" name="Google Shape;81;p6"/>
          <p:cNvSpPr txBox="1"/>
          <p:nvPr/>
        </p:nvSpPr>
        <p:spPr>
          <a:xfrm>
            <a:off x="895525" y="337250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rPr lang="fr" sz="2500" b="0" i="0" u="none" strike="noStrike" cap="none">
                <a:solidFill>
                  <a:srgbClr val="F3F3F3"/>
                </a:solidFill>
                <a:latin typeface="Montserrat"/>
                <a:ea typeface="Montserrat"/>
                <a:cs typeface="Montserrat"/>
                <a:sym typeface="Montserrat"/>
              </a:rPr>
              <a:t>Analyses univariées du prix</a:t>
            </a:r>
            <a:endParaRPr sz="2500" b="0" i="0" u="none" strike="noStrike" cap="none">
              <a:solidFill>
                <a:srgbClr val="F3F3F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82" name="Google Shape;82;p6"/>
          <p:cNvSpPr/>
          <p:nvPr/>
        </p:nvSpPr>
        <p:spPr>
          <a:xfrm>
            <a:off x="1012175" y="993350"/>
            <a:ext cx="452700" cy="50400"/>
          </a:xfrm>
          <a:prstGeom prst="rect">
            <a:avLst/>
          </a:prstGeom>
          <a:solidFill>
            <a:srgbClr val="F3F3F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6"/>
          <p:cNvSpPr/>
          <p:nvPr/>
        </p:nvSpPr>
        <p:spPr>
          <a:xfrm>
            <a:off x="0" y="0"/>
            <a:ext cx="9144000" cy="672737"/>
          </a:xfrm>
          <a:prstGeom prst="rect">
            <a:avLst/>
          </a:prstGeom>
          <a:solidFill>
            <a:srgbClr val="004D40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1" name="Google Shape;81;p6"/>
          <p:cNvSpPr txBox="1"/>
          <p:nvPr/>
        </p:nvSpPr>
        <p:spPr>
          <a:xfrm>
            <a:off x="895525" y="113483"/>
            <a:ext cx="8520600" cy="6245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rPr lang="fr" sz="2500" b="0" i="0" u="none" strike="noStrike" cap="none" dirty="0">
                <a:solidFill>
                  <a:srgbClr val="F3F3F3"/>
                </a:solidFill>
                <a:latin typeface="Montserrat"/>
                <a:ea typeface="Montserrat"/>
                <a:cs typeface="Montserrat"/>
                <a:sym typeface="Montserrat"/>
              </a:rPr>
              <a:t>Analyses univariées du prix</a:t>
            </a:r>
            <a:endParaRPr sz="2500" b="0" i="0" u="none" strike="noStrike" cap="none" dirty="0">
              <a:solidFill>
                <a:srgbClr val="F3F3F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82" name="Google Shape;82;p6"/>
          <p:cNvSpPr/>
          <p:nvPr/>
        </p:nvSpPr>
        <p:spPr>
          <a:xfrm>
            <a:off x="895525" y="568807"/>
            <a:ext cx="452700" cy="50400"/>
          </a:xfrm>
          <a:prstGeom prst="rect">
            <a:avLst/>
          </a:prstGeom>
          <a:solidFill>
            <a:srgbClr val="F3F3F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" name="ZoneTexte 12">
            <a:extLst>
              <a:ext uri="{FF2B5EF4-FFF2-40B4-BE49-F238E27FC236}">
                <a16:creationId xmlns="" xmlns:a16="http://schemas.microsoft.com/office/drawing/2014/main" xmlns:lc="http://schemas.openxmlformats.org/drawingml/2006/lockedCanvas" id="{65BDDFE2-1CCC-B755-2161-B059BAADE197}"/>
              </a:ext>
            </a:extLst>
          </p:cNvPr>
          <p:cNvSpPr txBox="1"/>
          <p:nvPr/>
        </p:nvSpPr>
        <p:spPr>
          <a:xfrm>
            <a:off x="287828" y="752345"/>
            <a:ext cx="856834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fr-FR" b="1" u="sng" dirty="0">
                <a:solidFill>
                  <a:schemeClr val="accent1">
                    <a:lumMod val="50000"/>
                  </a:schemeClr>
                </a:solidFill>
              </a:rPr>
              <a:t>Distribution des prix des bouteilles </a:t>
            </a:r>
            <a:r>
              <a:rPr lang="fr-FR" sz="1000" i="1" dirty="0"/>
              <a:t>Les valeurs atypiques sont identifiées à l’aide de la méthode de l’écart interquartile (IQR).</a:t>
            </a:r>
            <a:endParaRPr lang="fr-FR" sz="1000" b="1" i="1" u="sng" dirty="0">
              <a:solidFill>
                <a:schemeClr val="accent1">
                  <a:lumMod val="50000"/>
                </a:schemeClr>
              </a:solidFill>
            </a:endParaRPr>
          </a:p>
        </p:txBody>
      </p:sp>
      <p:sp>
        <p:nvSpPr>
          <p:cNvPr id="10" name="ZoneTexte 8">
            <a:extLst>
              <a:ext uri="{FF2B5EF4-FFF2-40B4-BE49-F238E27FC236}">
                <a16:creationId xmlns="" xmlns:a16="http://schemas.microsoft.com/office/drawing/2014/main" xmlns:lc="http://schemas.openxmlformats.org/drawingml/2006/lockedCanvas" id="{E611F612-7EDD-7598-3675-2C4785B2DB06}"/>
              </a:ext>
            </a:extLst>
          </p:cNvPr>
          <p:cNvSpPr txBox="1"/>
          <p:nvPr/>
        </p:nvSpPr>
        <p:spPr>
          <a:xfrm>
            <a:off x="6548845" y="2220672"/>
            <a:ext cx="2499361" cy="1015663"/>
          </a:xfrm>
          <a:prstGeom prst="rect">
            <a:avLst/>
          </a:prstGeom>
          <a:noFill/>
          <a:ln>
            <a:solidFill>
              <a:schemeClr val="accent1">
                <a:lumMod val="50000"/>
              </a:schemeClr>
            </a:solidFill>
          </a:ln>
        </p:spPr>
        <p:txBody>
          <a:bodyPr wrap="square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buNone/>
            </a:pPr>
            <a:r>
              <a:rPr lang="fr-FR" sz="1200" b="1" dirty="0"/>
              <a:t>Médiane ≈ 23 €</a:t>
            </a:r>
            <a:r>
              <a:rPr lang="fr-FR" sz="1200" dirty="0"/>
              <a:t/>
            </a:r>
            <a:br>
              <a:rPr lang="fr-FR" sz="1200" dirty="0"/>
            </a:br>
            <a:r>
              <a:rPr lang="fr-FR" sz="1200" dirty="0"/>
              <a:t>La majorité des prix se situe </a:t>
            </a:r>
            <a:r>
              <a:rPr lang="fr-FR" sz="1200" b="1" dirty="0"/>
              <a:t>entre 14 € et 42 €</a:t>
            </a:r>
            <a:r>
              <a:rPr lang="fr-FR" sz="1200" dirty="0"/>
              <a:t/>
            </a:r>
            <a:br>
              <a:rPr lang="fr-FR" sz="1200" dirty="0"/>
            </a:br>
            <a:r>
              <a:rPr lang="fr-FR" sz="1200" dirty="0"/>
              <a:t>Quelques vins premium atteignent </a:t>
            </a:r>
            <a:r>
              <a:rPr lang="fr-FR" sz="1200" b="1" dirty="0"/>
              <a:t>plus de 200 €</a:t>
            </a:r>
            <a:endParaRPr lang="fr-FR" sz="1200" dirty="0">
              <a:solidFill>
                <a:schemeClr val="accent1">
                  <a:lumMod val="50000"/>
                </a:schemeClr>
              </a:solidFill>
            </a:endParaRPr>
          </a:p>
        </p:txBody>
      </p:sp>
      <p:pic>
        <p:nvPicPr>
          <p:cNvPr id="1028" name="Picture 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973" y="1273629"/>
            <a:ext cx="6355078" cy="314565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2" name="Espace réservé du texte 10">
            <a:extLst>
              <a:ext uri="{FF2B5EF4-FFF2-40B4-BE49-F238E27FC236}">
                <a16:creationId xmlns="" xmlns:a16="http://schemas.microsoft.com/office/drawing/2014/main" xmlns:lc="http://schemas.openxmlformats.org/drawingml/2006/lockedCanvas" id="{DE4C5C05-DCD1-CF0A-B9C8-16428FFF8DA4}"/>
              </a:ext>
            </a:extLst>
          </p:cNvPr>
          <p:cNvSpPr>
            <a:spLocks noGrp="1"/>
          </p:cNvSpPr>
          <p:nvPr/>
        </p:nvSpPr>
        <p:spPr>
          <a:xfrm>
            <a:off x="97973" y="4416249"/>
            <a:ext cx="9139842" cy="6951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114300" indent="0">
              <a:buNone/>
            </a:pPr>
            <a:r>
              <a:rPr kumimoji="0" lang="fr-FR" sz="1400" b="0" i="0" u="none" strike="noStrike" kern="0" cap="none" spc="0" normalizeH="0" baseline="0" noProof="0" dirty="0">
                <a:ln>
                  <a:noFill/>
                </a:ln>
                <a:solidFill>
                  <a:srgbClr val="004D40"/>
                </a:solidFill>
                <a:effectLst/>
                <a:uLnTx/>
                <a:uFillTx/>
                <a:latin typeface="Arial"/>
                <a:cs typeface="Arial"/>
                <a:sym typeface="Wingdings 3" panose="05040102010807070707" pitchFamily="18" charset="2"/>
              </a:rPr>
              <a:t> </a:t>
            </a:r>
            <a:r>
              <a:rPr lang="fr-FR" sz="1400" dirty="0">
                <a:solidFill>
                  <a:srgbClr val="004D40"/>
                </a:solidFill>
              </a:rPr>
              <a:t>Le catalogue est majoritairement composé de vins de gamme intermédiaire, avec quelques références premium présentant des prix nettement plus </a:t>
            </a:r>
            <a:r>
              <a:rPr lang="fr-FR" sz="1400" dirty="0" err="1">
                <a:solidFill>
                  <a:srgbClr val="004D40"/>
                </a:solidFill>
              </a:rPr>
              <a:t>élevés.</a:t>
            </a:r>
            <a:r>
              <a:rPr lang="fr-FR" sz="1200" i="1" dirty="0" err="1">
                <a:solidFill>
                  <a:srgbClr val="004D40"/>
                </a:solidFill>
              </a:rPr>
              <a:t>Analyse</a:t>
            </a:r>
            <a:r>
              <a:rPr lang="fr-FR" sz="1200" i="1" dirty="0">
                <a:solidFill>
                  <a:srgbClr val="004D40"/>
                </a:solidFill>
              </a:rPr>
              <a:t> réalisée sur les ventes du mois d’octobre.</a:t>
            </a:r>
          </a:p>
        </p:txBody>
      </p:sp>
    </p:spTree>
    <p:extLst>
      <p:ext uri="{BB962C8B-B14F-4D97-AF65-F5344CB8AC3E}">
        <p14:creationId xmlns:p14="http://schemas.microsoft.com/office/powerpoint/2010/main" val="265296107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7"/>
          <p:cNvSpPr/>
          <p:nvPr/>
        </p:nvSpPr>
        <p:spPr>
          <a:xfrm>
            <a:off x="0" y="0"/>
            <a:ext cx="9144000" cy="687881"/>
          </a:xfrm>
          <a:prstGeom prst="rect">
            <a:avLst/>
          </a:prstGeom>
          <a:solidFill>
            <a:srgbClr val="004D40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8" name="Google Shape;88;p7"/>
          <p:cNvSpPr txBox="1"/>
          <p:nvPr/>
        </p:nvSpPr>
        <p:spPr>
          <a:xfrm>
            <a:off x="1464875" y="115181"/>
            <a:ext cx="5093795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5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rPr lang="fr" sz="2500" b="0" i="0" u="none" strike="noStrike" cap="none" dirty="0">
                <a:solidFill>
                  <a:srgbClr val="F3F3F3"/>
                </a:solidFill>
                <a:latin typeface="Montserrat"/>
                <a:ea typeface="Montserrat"/>
                <a:cs typeface="Montserrat"/>
                <a:sym typeface="Montserrat"/>
              </a:rPr>
              <a:t>Analyses complémentaires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rPr lang="fr" sz="2500" dirty="0">
                <a:solidFill>
                  <a:srgbClr val="F3F3F3"/>
                </a:solidFill>
                <a:latin typeface="Montserrat"/>
                <a:sym typeface="Montserrat"/>
              </a:rPr>
              <a:t>CA, quantités, stocks, taux de marge et correlations</a:t>
            </a:r>
            <a:endParaRPr dirty="0"/>
          </a:p>
        </p:txBody>
      </p:sp>
      <p:sp>
        <p:nvSpPr>
          <p:cNvPr id="89" name="Google Shape;89;p7"/>
          <p:cNvSpPr/>
          <p:nvPr/>
        </p:nvSpPr>
        <p:spPr>
          <a:xfrm>
            <a:off x="1464875" y="568808"/>
            <a:ext cx="452700" cy="50400"/>
          </a:xfrm>
          <a:prstGeom prst="rect">
            <a:avLst/>
          </a:prstGeom>
          <a:solidFill>
            <a:srgbClr val="F3F3F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" name="Google Shape;90;p7"/>
          <p:cNvSpPr txBox="1">
            <a:spLocks noGrp="1"/>
          </p:cNvSpPr>
          <p:nvPr/>
        </p:nvSpPr>
        <p:spPr>
          <a:xfrm>
            <a:off x="1217250" y="863550"/>
            <a:ext cx="67095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11430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800"/>
              <a:buNone/>
            </a:pPr>
            <a:r>
              <a:rPr lang="fr-FR" dirty="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Méthodes et Statistiques</a:t>
            </a:r>
            <a:endParaRPr dirty="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8" name="Image 7">
            <a:extLst>
              <a:ext uri="{FF2B5EF4-FFF2-40B4-BE49-F238E27FC236}">
                <a16:creationId xmlns="" xmlns:a16="http://schemas.microsoft.com/office/drawing/2014/main" xmlns:lc="http://schemas.openxmlformats.org/drawingml/2006/lockedCanvas" id="{7E46A08D-08F0-A285-EC68-E9A248B8021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64875" y="1654514"/>
            <a:ext cx="2362530" cy="1638529"/>
          </a:xfrm>
          <a:prstGeom prst="rect">
            <a:avLst/>
          </a:prstGeom>
        </p:spPr>
      </p:pic>
      <p:pic>
        <p:nvPicPr>
          <p:cNvPr id="9" name="Image 8">
            <a:extLst>
              <a:ext uri="{FF2B5EF4-FFF2-40B4-BE49-F238E27FC236}">
                <a16:creationId xmlns="" xmlns:a16="http://schemas.microsoft.com/office/drawing/2014/main" xmlns:lc="http://schemas.openxmlformats.org/drawingml/2006/lockedCanvas" id="{C0B017A3-716D-B52E-9987-F82155EF9BF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13514" y="1654514"/>
            <a:ext cx="3181794" cy="1028844"/>
          </a:xfrm>
          <a:prstGeom prst="rect">
            <a:avLst/>
          </a:prstGeom>
        </p:spPr>
      </p:pic>
      <p:sp>
        <p:nvSpPr>
          <p:cNvPr id="12" name="ZoneTexte 10">
            <a:extLst>
              <a:ext uri="{FF2B5EF4-FFF2-40B4-BE49-F238E27FC236}">
                <a16:creationId xmlns="" xmlns:a16="http://schemas.microsoft.com/office/drawing/2014/main" xmlns:lc="http://schemas.openxmlformats.org/drawingml/2006/lockedCanvas" id="{4FB9EC88-313C-BE55-8AF2-D9245CAE210A}"/>
              </a:ext>
            </a:extLst>
          </p:cNvPr>
          <p:cNvSpPr txBox="1"/>
          <p:nvPr/>
        </p:nvSpPr>
        <p:spPr>
          <a:xfrm>
            <a:off x="1103743" y="4126061"/>
            <a:ext cx="693651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fr-FR" i="1" dirty="0">
                <a:solidFill>
                  <a:srgbClr val="004D40"/>
                </a:solidFill>
                <a:latin typeface="Montserrat" panose="00000500000000000000" pitchFamily="2" charset="0"/>
              </a:rPr>
              <a:t>Outils de visualisations : diagrammes en barres et </a:t>
            </a:r>
            <a:r>
              <a:rPr lang="fr-FR" i="1" dirty="0" err="1">
                <a:solidFill>
                  <a:srgbClr val="004D40"/>
                </a:solidFill>
                <a:latin typeface="Montserrat" panose="00000500000000000000" pitchFamily="2" charset="0"/>
              </a:rPr>
              <a:t>heatmap</a:t>
            </a:r>
            <a:r>
              <a:rPr lang="fr-FR" i="1" dirty="0">
                <a:solidFill>
                  <a:srgbClr val="004D40"/>
                </a:solidFill>
                <a:latin typeface="Montserrat" panose="00000500000000000000" pitchFamily="2" charset="0"/>
              </a:rPr>
              <a:t> de corrélation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7"/>
          <p:cNvSpPr/>
          <p:nvPr/>
        </p:nvSpPr>
        <p:spPr>
          <a:xfrm>
            <a:off x="0" y="0"/>
            <a:ext cx="9144000" cy="687881"/>
          </a:xfrm>
          <a:prstGeom prst="rect">
            <a:avLst/>
          </a:prstGeom>
          <a:solidFill>
            <a:srgbClr val="004D40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8" name="Google Shape;88;p7"/>
          <p:cNvSpPr txBox="1"/>
          <p:nvPr/>
        </p:nvSpPr>
        <p:spPr>
          <a:xfrm>
            <a:off x="1464875" y="115181"/>
            <a:ext cx="5093795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85000" lnSpcReduction="10000"/>
          </a:bodyPr>
          <a:lstStyle/>
          <a:p>
            <a:pPr lvl="0">
              <a:buSzPts val="2500"/>
            </a:pPr>
            <a:r>
              <a:rPr lang="fr-FR" sz="2400" dirty="0">
                <a:solidFill>
                  <a:schemeClr val="bg1"/>
                </a:solidFill>
              </a:rPr>
              <a:t>Analyse du chiffre d’affaires du site web</a:t>
            </a:r>
            <a:endParaRPr dirty="0"/>
          </a:p>
        </p:txBody>
      </p:sp>
      <p:sp>
        <p:nvSpPr>
          <p:cNvPr id="89" name="Google Shape;89;p7"/>
          <p:cNvSpPr/>
          <p:nvPr/>
        </p:nvSpPr>
        <p:spPr>
          <a:xfrm>
            <a:off x="1464875" y="568808"/>
            <a:ext cx="452700" cy="50400"/>
          </a:xfrm>
          <a:prstGeom prst="rect">
            <a:avLst/>
          </a:prstGeom>
          <a:solidFill>
            <a:srgbClr val="F3F3F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099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5916" y="759727"/>
            <a:ext cx="8359444" cy="405268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52066685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7"/>
          <p:cNvSpPr/>
          <p:nvPr/>
        </p:nvSpPr>
        <p:spPr>
          <a:xfrm>
            <a:off x="0" y="0"/>
            <a:ext cx="9144000" cy="687881"/>
          </a:xfrm>
          <a:prstGeom prst="rect">
            <a:avLst/>
          </a:prstGeom>
          <a:solidFill>
            <a:srgbClr val="004D40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8" name="Google Shape;88;p7"/>
          <p:cNvSpPr txBox="1"/>
          <p:nvPr/>
        </p:nvSpPr>
        <p:spPr>
          <a:xfrm>
            <a:off x="1464875" y="115181"/>
            <a:ext cx="5093795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85000" lnSpcReduction="10000"/>
          </a:bodyPr>
          <a:lstStyle/>
          <a:p>
            <a:pPr lvl="0">
              <a:buSzPts val="2500"/>
            </a:pPr>
            <a:r>
              <a:rPr lang="fr-FR" sz="2400" dirty="0">
                <a:solidFill>
                  <a:schemeClr val="bg1"/>
                </a:solidFill>
              </a:rPr>
              <a:t>Analyse du chiffre d’affaires du site web</a:t>
            </a:r>
            <a:endParaRPr dirty="0"/>
          </a:p>
        </p:txBody>
      </p:sp>
      <p:sp>
        <p:nvSpPr>
          <p:cNvPr id="89" name="Google Shape;89;p7"/>
          <p:cNvSpPr/>
          <p:nvPr/>
        </p:nvSpPr>
        <p:spPr>
          <a:xfrm>
            <a:off x="1464875" y="568808"/>
            <a:ext cx="452700" cy="50400"/>
          </a:xfrm>
          <a:prstGeom prst="rect">
            <a:avLst/>
          </a:prstGeom>
          <a:solidFill>
            <a:srgbClr val="F3F3F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0601" y="862148"/>
            <a:ext cx="8383542" cy="404432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49601906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7"/>
          <p:cNvSpPr/>
          <p:nvPr/>
        </p:nvSpPr>
        <p:spPr>
          <a:xfrm>
            <a:off x="0" y="0"/>
            <a:ext cx="9144000" cy="687881"/>
          </a:xfrm>
          <a:prstGeom prst="rect">
            <a:avLst/>
          </a:prstGeom>
          <a:solidFill>
            <a:srgbClr val="004D40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8" name="Google Shape;88;p7"/>
          <p:cNvSpPr txBox="1"/>
          <p:nvPr/>
        </p:nvSpPr>
        <p:spPr>
          <a:xfrm>
            <a:off x="1464875" y="115181"/>
            <a:ext cx="5093795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85000" lnSpcReduction="10000"/>
          </a:bodyPr>
          <a:lstStyle/>
          <a:p>
            <a:pPr lvl="0">
              <a:buSzPts val="2500"/>
            </a:pPr>
            <a:r>
              <a:rPr lang="fr-FR" sz="2400" dirty="0">
                <a:solidFill>
                  <a:schemeClr val="bg1"/>
                </a:solidFill>
              </a:rPr>
              <a:t>Analyse du chiffre d’affaires du site web</a:t>
            </a:r>
            <a:endParaRPr dirty="0"/>
          </a:p>
        </p:txBody>
      </p:sp>
      <p:sp>
        <p:nvSpPr>
          <p:cNvPr id="89" name="Google Shape;89;p7"/>
          <p:cNvSpPr/>
          <p:nvPr/>
        </p:nvSpPr>
        <p:spPr>
          <a:xfrm>
            <a:off x="1464875" y="568808"/>
            <a:ext cx="452700" cy="50400"/>
          </a:xfrm>
          <a:prstGeom prst="rect">
            <a:avLst/>
          </a:prstGeom>
          <a:solidFill>
            <a:srgbClr val="F3F3F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0785" y="804368"/>
            <a:ext cx="8517232" cy="410576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5023574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7"/>
          <p:cNvSpPr/>
          <p:nvPr/>
        </p:nvSpPr>
        <p:spPr>
          <a:xfrm>
            <a:off x="0" y="0"/>
            <a:ext cx="9144000" cy="687881"/>
          </a:xfrm>
          <a:prstGeom prst="rect">
            <a:avLst/>
          </a:prstGeom>
          <a:solidFill>
            <a:srgbClr val="004D40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8" name="Google Shape;88;p7"/>
          <p:cNvSpPr txBox="1"/>
          <p:nvPr/>
        </p:nvSpPr>
        <p:spPr>
          <a:xfrm>
            <a:off x="1464875" y="115181"/>
            <a:ext cx="5093795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lvl="0">
              <a:buSzPts val="2500"/>
            </a:pPr>
            <a:r>
              <a:rPr lang="fr-FR" sz="2000" dirty="0">
                <a:solidFill>
                  <a:schemeClr val="bg1"/>
                </a:solidFill>
              </a:rPr>
              <a:t>Analyse du taux de marge</a:t>
            </a:r>
            <a:endParaRPr dirty="0"/>
          </a:p>
        </p:txBody>
      </p:sp>
      <p:sp>
        <p:nvSpPr>
          <p:cNvPr id="89" name="Google Shape;89;p7"/>
          <p:cNvSpPr/>
          <p:nvPr/>
        </p:nvSpPr>
        <p:spPr>
          <a:xfrm>
            <a:off x="1464875" y="523089"/>
            <a:ext cx="285548" cy="45719"/>
          </a:xfrm>
          <a:prstGeom prst="rect">
            <a:avLst/>
          </a:prstGeom>
          <a:solidFill>
            <a:srgbClr val="F3F3F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" name="ZoneTexte 6">
            <a:extLst>
              <a:ext uri="{FF2B5EF4-FFF2-40B4-BE49-F238E27FC236}">
                <a16:creationId xmlns="" xmlns:a16="http://schemas.microsoft.com/office/drawing/2014/main" xmlns:lc="http://schemas.openxmlformats.org/drawingml/2006/lockedCanvas" id="{3160C6AC-BB04-B9A2-3D15-70C07C645F34}"/>
              </a:ext>
            </a:extLst>
          </p:cNvPr>
          <p:cNvSpPr txBox="1"/>
          <p:nvPr/>
        </p:nvSpPr>
        <p:spPr>
          <a:xfrm>
            <a:off x="0" y="4511230"/>
            <a:ext cx="91440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fr-FR" dirty="0">
                <a:solidFill>
                  <a:srgbClr val="004D40"/>
                </a:solidFill>
              </a:rPr>
              <a:t>Le taux de marge varie selon les catégories. Les spiritueux comme le Cognac ou le Whisky présentent des marges plus élevées, ce qui peut orienter les décisions commerciales.</a:t>
            </a:r>
          </a:p>
        </p:txBody>
      </p:sp>
      <p:pic>
        <p:nvPicPr>
          <p:cNvPr id="2051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766" y="840981"/>
            <a:ext cx="8698005" cy="278224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89627533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7"/>
          <p:cNvSpPr/>
          <p:nvPr/>
        </p:nvSpPr>
        <p:spPr>
          <a:xfrm>
            <a:off x="0" y="0"/>
            <a:ext cx="9144000" cy="687881"/>
          </a:xfrm>
          <a:prstGeom prst="rect">
            <a:avLst/>
          </a:prstGeom>
          <a:solidFill>
            <a:srgbClr val="004D40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8" name="Google Shape;88;p7"/>
          <p:cNvSpPr txBox="1"/>
          <p:nvPr/>
        </p:nvSpPr>
        <p:spPr>
          <a:xfrm>
            <a:off x="1464875" y="115181"/>
            <a:ext cx="6954136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>
              <a:buSzPts val="2500"/>
            </a:pPr>
            <a:r>
              <a:rPr lang="fr-FR" sz="2000" dirty="0">
                <a:solidFill>
                  <a:schemeClr val="bg1"/>
                </a:solidFill>
              </a:rPr>
              <a:t>Analyse des corrélations entre prix, ventes et stocks</a:t>
            </a:r>
            <a:endParaRPr sz="2000" dirty="0"/>
          </a:p>
        </p:txBody>
      </p:sp>
      <p:sp>
        <p:nvSpPr>
          <p:cNvPr id="89" name="Google Shape;89;p7"/>
          <p:cNvSpPr/>
          <p:nvPr/>
        </p:nvSpPr>
        <p:spPr>
          <a:xfrm>
            <a:off x="1464875" y="523089"/>
            <a:ext cx="285548" cy="45719"/>
          </a:xfrm>
          <a:prstGeom prst="rect">
            <a:avLst/>
          </a:prstGeom>
          <a:solidFill>
            <a:srgbClr val="F3F3F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91640" y="820674"/>
            <a:ext cx="4483372" cy="32463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08019537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7"/>
          <p:cNvSpPr/>
          <p:nvPr/>
        </p:nvSpPr>
        <p:spPr>
          <a:xfrm>
            <a:off x="0" y="0"/>
            <a:ext cx="9144000" cy="687881"/>
          </a:xfrm>
          <a:prstGeom prst="rect">
            <a:avLst/>
          </a:prstGeom>
          <a:solidFill>
            <a:srgbClr val="004D40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8" name="Google Shape;88;p7"/>
          <p:cNvSpPr txBox="1"/>
          <p:nvPr/>
        </p:nvSpPr>
        <p:spPr>
          <a:xfrm>
            <a:off x="1464875" y="115181"/>
            <a:ext cx="6954136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>
              <a:buSzPts val="2500"/>
            </a:pPr>
            <a:r>
              <a:rPr lang="fr-FR" sz="2000" dirty="0">
                <a:solidFill>
                  <a:srgbClr val="F3F3F3"/>
                </a:solidFill>
                <a:latin typeface="Montserrat"/>
                <a:ea typeface="Montserrat"/>
                <a:cs typeface="Montserrat"/>
                <a:sym typeface="Montserrat"/>
              </a:rPr>
              <a:t>Conclusion des analyses</a:t>
            </a:r>
            <a:endParaRPr lang="fr-FR" sz="2000" dirty="0"/>
          </a:p>
        </p:txBody>
      </p:sp>
      <p:sp>
        <p:nvSpPr>
          <p:cNvPr id="89" name="Google Shape;89;p7"/>
          <p:cNvSpPr/>
          <p:nvPr/>
        </p:nvSpPr>
        <p:spPr>
          <a:xfrm>
            <a:off x="1464875" y="523089"/>
            <a:ext cx="285548" cy="45719"/>
          </a:xfrm>
          <a:prstGeom prst="rect">
            <a:avLst/>
          </a:prstGeom>
          <a:solidFill>
            <a:srgbClr val="F3F3F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" name="Espace réservé du texte 1">
            <a:extLst>
              <a:ext uri="{FF2B5EF4-FFF2-40B4-BE49-F238E27FC236}">
                <a16:creationId xmlns="" xmlns:a16="http://schemas.microsoft.com/office/drawing/2014/main" xmlns:lc="http://schemas.openxmlformats.org/drawingml/2006/lockedCanvas" id="{E3BF7349-AEBE-EC76-A244-9F9F2B7166D3}"/>
              </a:ext>
            </a:extLst>
          </p:cNvPr>
          <p:cNvSpPr>
            <a:spLocks noGrp="1" noChangeArrowheads="1"/>
          </p:cNvSpPr>
          <p:nvPr/>
        </p:nvSpPr>
        <p:spPr bwMode="auto">
          <a:xfrm>
            <a:off x="162286" y="691839"/>
            <a:ext cx="8819428" cy="424731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spcFirstLastPara="1"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285750" lvl="0" indent="-28575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</a:pPr>
            <a:r>
              <a:rPr lang="fr-FR" dirty="0" smtClean="0">
                <a:solidFill>
                  <a:schemeClr val="tx1"/>
                </a:solidFill>
              </a:rPr>
              <a:t>Volumes </a:t>
            </a:r>
            <a:r>
              <a:rPr lang="fr-FR" dirty="0">
                <a:solidFill>
                  <a:schemeClr val="tx1"/>
                </a:solidFill>
              </a:rPr>
              <a:t>de ventes élevés sur des vins plus accessibles</a:t>
            </a:r>
          </a:p>
          <a:p>
            <a:pPr marL="285750" lvl="0" indent="-28575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</a:pPr>
            <a:endParaRPr lang="fr-FR" dirty="0">
              <a:solidFill>
                <a:schemeClr val="tx1"/>
              </a:solidFill>
            </a:endParaRPr>
          </a:p>
          <a:p>
            <a:pPr marL="285750" lvl="0" indent="-28575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</a:pPr>
            <a:r>
              <a:rPr lang="fr-FR" dirty="0">
                <a:solidFill>
                  <a:schemeClr val="tx1"/>
                </a:solidFill>
              </a:rPr>
              <a:t>Certaines références présentent une rotation lente des stocks : potentiel d’optimisation.</a:t>
            </a:r>
          </a:p>
          <a:p>
            <a:pPr marL="285750" lvl="0" indent="-28575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</a:pPr>
            <a:endParaRPr lang="fr-FR" dirty="0">
              <a:solidFill>
                <a:schemeClr val="tx1"/>
              </a:solidFill>
            </a:endParaRPr>
          </a:p>
          <a:p>
            <a:pPr marL="285750" lvl="0" indent="-28575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</a:pPr>
            <a:r>
              <a:rPr lang="fr-FR" dirty="0">
                <a:solidFill>
                  <a:schemeClr val="tx1"/>
                </a:solidFill>
              </a:rPr>
              <a:t>Niveaux de marge variables selon les catégories : opportunités d’ajustement de la stratégie commerciale</a:t>
            </a:r>
            <a:r>
              <a:rPr lang="fr-FR" dirty="0" smtClean="0">
                <a:solidFill>
                  <a:schemeClr val="tx1"/>
                </a:solidFill>
              </a:rPr>
              <a:t>.</a:t>
            </a:r>
          </a:p>
          <a:p>
            <a:pPr marL="285750" lvl="0" indent="-28575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</a:pPr>
            <a:endParaRPr lang="fr-FR" dirty="0">
              <a:solidFill>
                <a:schemeClr val="tx1"/>
              </a:solidFill>
            </a:endParaRP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endParaRPr lang="fr-FR" dirty="0" smtClean="0">
              <a:solidFill>
                <a:schemeClr val="tx1"/>
              </a:solidFill>
            </a:endParaRP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endParaRPr lang="fr-FR" dirty="0">
              <a:solidFill>
                <a:schemeClr val="tx1"/>
              </a:solidFill>
            </a:endParaRP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endParaRPr lang="fr-FR" dirty="0" smtClean="0">
              <a:solidFill>
                <a:schemeClr val="tx1"/>
              </a:solidFill>
            </a:endParaRP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endParaRPr lang="fr-FR" dirty="0">
              <a:solidFill>
                <a:schemeClr val="tx1"/>
              </a:solidFill>
            </a:endParaRP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endParaRPr lang="fr-FR" dirty="0">
              <a:solidFill>
                <a:schemeClr val="tx1"/>
              </a:solidFill>
            </a:endParaRP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fr-FR" b="1" dirty="0">
                <a:solidFill>
                  <a:srgbClr val="004D40"/>
                </a:solidFill>
              </a:rPr>
              <a:t>Pistes d’amélioration : suivi des produits stratégiques, optimisation des stocks et mise en place d’indicateurs de performance.</a:t>
            </a:r>
            <a:endParaRPr lang="fr-FR" b="1" dirty="0">
              <a:solidFill>
                <a:srgbClr val="004D4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2375451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7"/>
          <p:cNvSpPr/>
          <p:nvPr/>
        </p:nvSpPr>
        <p:spPr>
          <a:xfrm>
            <a:off x="0" y="0"/>
            <a:ext cx="9144000" cy="687881"/>
          </a:xfrm>
          <a:prstGeom prst="rect">
            <a:avLst/>
          </a:prstGeom>
          <a:solidFill>
            <a:srgbClr val="004D40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8" name="Google Shape;88;p7"/>
          <p:cNvSpPr txBox="1"/>
          <p:nvPr/>
        </p:nvSpPr>
        <p:spPr>
          <a:xfrm>
            <a:off x="1464875" y="115181"/>
            <a:ext cx="6954136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>
              <a:buSzPts val="2500"/>
            </a:pPr>
            <a:r>
              <a:rPr lang="fr-FR" sz="2000" dirty="0">
                <a:solidFill>
                  <a:srgbClr val="F3F3F3"/>
                </a:solidFill>
                <a:latin typeface="Montserrat"/>
                <a:ea typeface="Montserrat"/>
                <a:cs typeface="Montserrat"/>
                <a:sym typeface="Montserrat"/>
              </a:rPr>
              <a:t>Création du </a:t>
            </a:r>
            <a:r>
              <a:rPr lang="fr-FR" sz="2000" dirty="0" err="1">
                <a:solidFill>
                  <a:srgbClr val="F3F3F3"/>
                </a:solidFill>
                <a:latin typeface="Montserrat"/>
                <a:ea typeface="Montserrat"/>
                <a:cs typeface="Montserrat"/>
                <a:sym typeface="Montserrat"/>
              </a:rPr>
              <a:t>Bottleneck</a:t>
            </a:r>
            <a:r>
              <a:rPr lang="fr-FR" sz="2000" dirty="0">
                <a:solidFill>
                  <a:srgbClr val="F3F3F3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fr-FR" sz="2000" dirty="0" err="1">
                <a:solidFill>
                  <a:srgbClr val="F3F3F3"/>
                </a:solidFill>
                <a:latin typeface="Montserrat"/>
                <a:ea typeface="Montserrat"/>
                <a:cs typeface="Montserrat"/>
                <a:sym typeface="Montserrat"/>
              </a:rPr>
              <a:t>Dataset</a:t>
            </a:r>
            <a:r>
              <a:rPr lang="fr-FR" sz="2000" dirty="0">
                <a:solidFill>
                  <a:srgbClr val="F3F3F3"/>
                </a:solidFill>
                <a:latin typeface="Montserrat"/>
                <a:ea typeface="Montserrat"/>
                <a:cs typeface="Montserrat"/>
                <a:sym typeface="Montserrat"/>
              </a:rPr>
              <a:t> Final</a:t>
            </a:r>
            <a:endParaRPr lang="fr-FR" sz="2000" dirty="0">
              <a:solidFill>
                <a:srgbClr val="F3F3F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89" name="Google Shape;89;p7"/>
          <p:cNvSpPr/>
          <p:nvPr/>
        </p:nvSpPr>
        <p:spPr>
          <a:xfrm>
            <a:off x="1464875" y="523089"/>
            <a:ext cx="285548" cy="45719"/>
          </a:xfrm>
          <a:prstGeom prst="rect">
            <a:avLst/>
          </a:prstGeom>
          <a:solidFill>
            <a:srgbClr val="F3F3F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" name="Google Shape;71;p5">
            <a:extLst>
              <a:ext uri="{FF2B5EF4-FFF2-40B4-BE49-F238E27FC236}">
                <a16:creationId xmlns="" xmlns:a16="http://schemas.microsoft.com/office/drawing/2014/main" xmlns:lc="http://schemas.openxmlformats.org/drawingml/2006/lockedCanvas" id="{3143E5DB-89F2-C37D-C0C4-EC8E5C7412B0}"/>
              </a:ext>
            </a:extLst>
          </p:cNvPr>
          <p:cNvSpPr txBox="1">
            <a:spLocks noGrp="1"/>
          </p:cNvSpPr>
          <p:nvPr/>
        </p:nvSpPr>
        <p:spPr>
          <a:xfrm>
            <a:off x="0" y="720300"/>
            <a:ext cx="9144000" cy="43742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92500" lnSpcReduction="20000"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buNone/>
            </a:pPr>
            <a:r>
              <a:rPr lang="fr-FR" b="1" u="sng" dirty="0">
                <a:solidFill>
                  <a:srgbClr val="004D40"/>
                </a:solidFill>
              </a:rPr>
              <a:t>Le </a:t>
            </a:r>
            <a:r>
              <a:rPr lang="fr-FR" b="1" u="sng" dirty="0" err="1">
                <a:solidFill>
                  <a:srgbClr val="004D40"/>
                </a:solidFill>
              </a:rPr>
              <a:t>dataset</a:t>
            </a:r>
            <a:r>
              <a:rPr lang="fr-FR" b="1" u="sng" dirty="0">
                <a:solidFill>
                  <a:srgbClr val="004D40"/>
                </a:solidFill>
              </a:rPr>
              <a:t> final est obtenu après les étapes suivantes :</a:t>
            </a:r>
          </a:p>
          <a:p>
            <a:pPr>
              <a:buNone/>
            </a:pPr>
            <a:endParaRPr lang="fr-FR" sz="600" b="1" u="sng" dirty="0">
              <a:solidFill>
                <a:srgbClr val="4D0801"/>
              </a:solidFill>
            </a:endParaRPr>
          </a:p>
          <a:p>
            <a:pPr>
              <a:buFontTx/>
              <a:buChar char="-"/>
            </a:pPr>
            <a:r>
              <a:rPr lang="fr-FR" dirty="0">
                <a:solidFill>
                  <a:schemeClr val="tx1"/>
                </a:solidFill>
              </a:rPr>
              <a:t>nettoyage des données</a:t>
            </a:r>
          </a:p>
          <a:p>
            <a:pPr>
              <a:buFontTx/>
              <a:buChar char="-"/>
            </a:pPr>
            <a:r>
              <a:rPr lang="fr-FR" dirty="0">
                <a:solidFill>
                  <a:schemeClr val="tx1"/>
                </a:solidFill>
              </a:rPr>
              <a:t>correction des anomalies</a:t>
            </a:r>
          </a:p>
          <a:p>
            <a:pPr>
              <a:buFontTx/>
              <a:buChar char="-"/>
            </a:pPr>
            <a:r>
              <a:rPr lang="fr-FR" dirty="0">
                <a:solidFill>
                  <a:schemeClr val="tx1"/>
                </a:solidFill>
              </a:rPr>
              <a:t>fusion des données ERP, Web et de la table de liaison</a:t>
            </a:r>
          </a:p>
          <a:p>
            <a:pPr>
              <a:buFontTx/>
              <a:buChar char="-"/>
            </a:pPr>
            <a:r>
              <a:rPr lang="fr-FR" dirty="0">
                <a:solidFill>
                  <a:schemeClr val="tx1"/>
                </a:solidFill>
              </a:rPr>
              <a:t>création de nouvelles variables analytiques</a:t>
            </a:r>
          </a:p>
          <a:p>
            <a:pPr>
              <a:buFont typeface="Arial" panose="020B0604020202020204" pitchFamily="34" charset="0"/>
              <a:buChar char="•"/>
            </a:pPr>
            <a:endParaRPr lang="fr-FR" dirty="0">
              <a:solidFill>
                <a:schemeClr val="tx1"/>
              </a:solidFill>
            </a:endParaRPr>
          </a:p>
          <a:p>
            <a:pPr>
              <a:buNone/>
            </a:pPr>
            <a:r>
              <a:rPr lang="fr-FR" b="1" u="sng" dirty="0">
                <a:solidFill>
                  <a:srgbClr val="004D40"/>
                </a:solidFill>
              </a:rPr>
              <a:t>Variables créées pour l’analyse :</a:t>
            </a:r>
          </a:p>
          <a:p>
            <a:pPr>
              <a:buNone/>
            </a:pPr>
            <a:endParaRPr lang="fr-FR" sz="600" b="1" u="sng" dirty="0">
              <a:solidFill>
                <a:srgbClr val="4D0801"/>
              </a:solidFill>
            </a:endParaRPr>
          </a:p>
          <a:p>
            <a:pPr>
              <a:buFontTx/>
              <a:buChar char="-"/>
            </a:pPr>
            <a:r>
              <a:rPr lang="fr-FR" dirty="0">
                <a:solidFill>
                  <a:schemeClr val="tx1"/>
                </a:solidFill>
              </a:rPr>
              <a:t>CA par produit</a:t>
            </a:r>
          </a:p>
          <a:p>
            <a:pPr>
              <a:buFontTx/>
              <a:buChar char="-"/>
            </a:pPr>
            <a:r>
              <a:rPr lang="fr-FR" dirty="0">
                <a:solidFill>
                  <a:schemeClr val="tx1"/>
                </a:solidFill>
              </a:rPr>
              <a:t>part du CA</a:t>
            </a:r>
          </a:p>
          <a:p>
            <a:pPr>
              <a:buFontTx/>
              <a:buChar char="-"/>
            </a:pPr>
            <a:r>
              <a:rPr lang="fr-FR" dirty="0">
                <a:solidFill>
                  <a:schemeClr val="tx1"/>
                </a:solidFill>
              </a:rPr>
              <a:t>cumul du </a:t>
            </a:r>
            <a:r>
              <a:rPr lang="fr-FR" dirty="0" smtClean="0">
                <a:solidFill>
                  <a:schemeClr val="tx1"/>
                </a:solidFill>
              </a:rPr>
              <a:t>CA</a:t>
            </a:r>
          </a:p>
          <a:p>
            <a:pPr>
              <a:buNone/>
            </a:pPr>
            <a:r>
              <a:rPr lang="fr-FR" dirty="0" smtClean="0">
                <a:solidFill>
                  <a:schemeClr val="tx1"/>
                </a:solidFill>
              </a:rPr>
              <a:t> </a:t>
            </a:r>
          </a:p>
          <a:p>
            <a:pPr>
              <a:buNone/>
            </a:pPr>
            <a:endParaRPr lang="fr-FR" dirty="0">
              <a:solidFill>
                <a:schemeClr val="tx1"/>
              </a:solidFill>
            </a:endParaRPr>
          </a:p>
          <a:p>
            <a:pPr>
              <a:buNone/>
            </a:pPr>
            <a:endParaRPr lang="fr-FR" dirty="0">
              <a:solidFill>
                <a:schemeClr val="tx1"/>
              </a:solidFill>
            </a:endParaRPr>
          </a:p>
          <a:p>
            <a:pPr>
              <a:buNone/>
            </a:pPr>
            <a:r>
              <a:rPr lang="fr-FR" b="1" dirty="0">
                <a:solidFill>
                  <a:srgbClr val="004D40"/>
                </a:solidFill>
              </a:rPr>
              <a:t>Ce </a:t>
            </a:r>
            <a:r>
              <a:rPr lang="fr-FR" b="1" dirty="0" err="1">
                <a:solidFill>
                  <a:srgbClr val="004D40"/>
                </a:solidFill>
              </a:rPr>
              <a:t>dataset</a:t>
            </a:r>
            <a:r>
              <a:rPr lang="fr-FR" b="1" dirty="0">
                <a:solidFill>
                  <a:srgbClr val="004D40"/>
                </a:solidFill>
              </a:rPr>
              <a:t> consolidé constitue la base unique utilisée pour l’ensemble des analyses présentées.</a:t>
            </a:r>
            <a:endParaRPr lang="fr-FR" dirty="0">
              <a:solidFill>
                <a:srgbClr val="004D40"/>
              </a:solidFill>
            </a:endParaRPr>
          </a:p>
          <a:p>
            <a:pPr>
              <a:buNone/>
            </a:pPr>
            <a:r>
              <a:rPr lang="fr-FR" dirty="0">
                <a:solidFill>
                  <a:schemeClr val="tx1"/>
                </a:solidFill>
              </a:rPr>
              <a:t>                    </a:t>
            </a:r>
            <a:endParaRPr dirty="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  <p:extLst>
      <p:ext uri="{BB962C8B-B14F-4D97-AF65-F5344CB8AC3E}">
        <p14:creationId xmlns:p14="http://schemas.microsoft.com/office/powerpoint/2010/main" val="164966065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7"/>
          <p:cNvSpPr/>
          <p:nvPr/>
        </p:nvSpPr>
        <p:spPr>
          <a:xfrm>
            <a:off x="0" y="0"/>
            <a:ext cx="9144000" cy="687881"/>
          </a:xfrm>
          <a:prstGeom prst="rect">
            <a:avLst/>
          </a:prstGeom>
          <a:solidFill>
            <a:srgbClr val="004D40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8" name="Google Shape;88;p7"/>
          <p:cNvSpPr txBox="1"/>
          <p:nvPr/>
        </p:nvSpPr>
        <p:spPr>
          <a:xfrm>
            <a:off x="1464875" y="115181"/>
            <a:ext cx="6954136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>
              <a:buSzPts val="2500"/>
            </a:pPr>
            <a:r>
              <a:rPr lang="fr-FR" sz="2000" dirty="0">
                <a:solidFill>
                  <a:srgbClr val="F3F3F3"/>
                </a:solidFill>
                <a:latin typeface="Montserrat"/>
                <a:ea typeface="Montserrat"/>
                <a:cs typeface="Montserrat"/>
                <a:sym typeface="Montserrat"/>
              </a:rPr>
              <a:t>Actions pour la suite</a:t>
            </a:r>
            <a:endParaRPr lang="fr-FR" sz="2000" dirty="0"/>
          </a:p>
        </p:txBody>
      </p:sp>
      <p:sp>
        <p:nvSpPr>
          <p:cNvPr id="89" name="Google Shape;89;p7"/>
          <p:cNvSpPr/>
          <p:nvPr/>
        </p:nvSpPr>
        <p:spPr>
          <a:xfrm>
            <a:off x="1464875" y="523089"/>
            <a:ext cx="285548" cy="45719"/>
          </a:xfrm>
          <a:prstGeom prst="rect">
            <a:avLst/>
          </a:prstGeom>
          <a:solidFill>
            <a:srgbClr val="F3F3F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" name="Espace réservé du texte 2">
            <a:extLst>
              <a:ext uri="{FF2B5EF4-FFF2-40B4-BE49-F238E27FC236}">
                <a16:creationId xmlns="" xmlns:a16="http://schemas.microsoft.com/office/drawing/2014/main" xmlns:lc="http://schemas.openxmlformats.org/drawingml/2006/lockedCanvas" id="{D97E4427-7781-2089-4EC1-C9E13E2C0059}"/>
              </a:ext>
            </a:extLst>
          </p:cNvPr>
          <p:cNvSpPr>
            <a:spLocks noGrp="1"/>
          </p:cNvSpPr>
          <p:nvPr/>
        </p:nvSpPr>
        <p:spPr>
          <a:xfrm>
            <a:off x="508411" y="734865"/>
            <a:ext cx="7839794" cy="4409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77500" lnSpcReduction="20000"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>
              <a:buNone/>
            </a:pPr>
            <a:r>
              <a:rPr lang="fr-FR" b="1" dirty="0">
                <a:solidFill>
                  <a:srgbClr val="004D40"/>
                </a:solidFill>
                <a:latin typeface="Montserrat" panose="00000500000000000000" pitchFamily="2" charset="0"/>
              </a:rPr>
              <a:t>📈 Amélioration du pilotage business</a:t>
            </a:r>
          </a:p>
          <a:p>
            <a:pPr algn="ctr">
              <a:buNone/>
            </a:pPr>
            <a:endParaRPr lang="fr-FR" b="1" dirty="0">
              <a:solidFill>
                <a:srgbClr val="004D40"/>
              </a:solidFill>
              <a:latin typeface="Montserrat" panose="00000500000000000000" pitchFamily="2" charset="0"/>
            </a:endParaRPr>
          </a:p>
          <a:p>
            <a:pPr>
              <a:buNone/>
            </a:pPr>
            <a:r>
              <a:rPr lang="fr-FR" b="1" dirty="0">
                <a:solidFill>
                  <a:schemeClr val="tx1"/>
                </a:solidFill>
                <a:latin typeface="Montserrat" panose="00000500000000000000" pitchFamily="2" charset="0"/>
              </a:rPr>
              <a:t>Valoriser les produits premium</a:t>
            </a:r>
          </a:p>
          <a:p>
            <a:pPr>
              <a:buNone/>
            </a:pPr>
            <a:endParaRPr lang="fr-FR" sz="600" dirty="0">
              <a:solidFill>
                <a:srgbClr val="004D40"/>
              </a:solidFill>
              <a:latin typeface="Montserrat" panose="00000500000000000000" pitchFamily="2" charset="0"/>
            </a:endParaRPr>
          </a:p>
          <a:p>
            <a:pPr>
              <a:buNone/>
            </a:pPr>
            <a:r>
              <a:rPr lang="fr-FR" sz="1400" dirty="0">
                <a:solidFill>
                  <a:srgbClr val="004D40"/>
                </a:solidFill>
                <a:latin typeface="Montserrat" panose="00000500000000000000" pitchFamily="2" charset="0"/>
              </a:rPr>
              <a:t>Les vins à prix élevé génèrent une forte valeur par vente.</a:t>
            </a:r>
          </a:p>
          <a:p>
            <a:pPr>
              <a:buNone/>
            </a:pPr>
            <a:endParaRPr lang="fr-FR" sz="400" dirty="0">
              <a:solidFill>
                <a:srgbClr val="004D40"/>
              </a:solidFill>
              <a:latin typeface="Montserrat" panose="00000500000000000000" pitchFamily="2" charset="0"/>
            </a:endParaRPr>
          </a:p>
          <a:p>
            <a:pPr>
              <a:buNone/>
            </a:pPr>
            <a:endParaRPr lang="fr-FR" sz="400" dirty="0">
              <a:solidFill>
                <a:srgbClr val="004D40"/>
              </a:solidFill>
              <a:latin typeface="Montserrat" panose="00000500000000000000" pitchFamily="2" charset="0"/>
            </a:endParaRPr>
          </a:p>
          <a:p>
            <a:pPr>
              <a:buFont typeface="Wingdings" panose="05000000000000000000" pitchFamily="2" charset="2"/>
              <a:buChar char="ð"/>
            </a:pPr>
            <a:r>
              <a:rPr lang="fr-FR" dirty="0">
                <a:solidFill>
                  <a:srgbClr val="004D40"/>
                </a:solidFill>
                <a:latin typeface="Montserrat" panose="00000500000000000000" pitchFamily="2" charset="0"/>
              </a:rPr>
              <a:t>renforcer leur visibilité sur le site</a:t>
            </a:r>
          </a:p>
          <a:p>
            <a:pPr>
              <a:buFont typeface="Wingdings" panose="05000000000000000000" pitchFamily="2" charset="2"/>
              <a:buChar char="ð"/>
            </a:pPr>
            <a:r>
              <a:rPr lang="fr-FR" dirty="0">
                <a:solidFill>
                  <a:srgbClr val="004D40"/>
                </a:solidFill>
                <a:latin typeface="Montserrat" panose="00000500000000000000" pitchFamily="2" charset="0"/>
              </a:rPr>
              <a:t>les mettre en avant dans les recommandations ou promotions</a:t>
            </a:r>
          </a:p>
          <a:p>
            <a:pPr>
              <a:buNone/>
            </a:pPr>
            <a:r>
              <a:rPr lang="fr-FR" dirty="0">
                <a:solidFill>
                  <a:srgbClr val="004D40"/>
                </a:solidFill>
                <a:latin typeface="Montserrat" panose="00000500000000000000" pitchFamily="2" charset="0"/>
              </a:rPr>
              <a:t/>
            </a:r>
            <a:br>
              <a:rPr lang="fr-FR" dirty="0">
                <a:solidFill>
                  <a:srgbClr val="004D40"/>
                </a:solidFill>
                <a:latin typeface="Montserrat" panose="00000500000000000000" pitchFamily="2" charset="0"/>
              </a:rPr>
            </a:br>
            <a:endParaRPr lang="fr-FR" dirty="0">
              <a:solidFill>
                <a:srgbClr val="004D40"/>
              </a:solidFill>
              <a:latin typeface="Montserrat" panose="00000500000000000000" pitchFamily="2" charset="0"/>
            </a:endParaRPr>
          </a:p>
          <a:p>
            <a:pPr>
              <a:buNone/>
            </a:pPr>
            <a:r>
              <a:rPr lang="fr-FR" b="1" dirty="0">
                <a:solidFill>
                  <a:schemeClr val="tx1"/>
                </a:solidFill>
                <a:latin typeface="Montserrat" panose="00000500000000000000" pitchFamily="2" charset="0"/>
              </a:rPr>
              <a:t>Sécuriser le cœur du catalogue</a:t>
            </a:r>
          </a:p>
          <a:p>
            <a:pPr>
              <a:buNone/>
            </a:pPr>
            <a:endParaRPr lang="fr-FR" sz="400" dirty="0">
              <a:solidFill>
                <a:srgbClr val="004D40"/>
              </a:solidFill>
              <a:latin typeface="Montserrat" panose="00000500000000000000" pitchFamily="2" charset="0"/>
            </a:endParaRPr>
          </a:p>
          <a:p>
            <a:pPr>
              <a:buNone/>
            </a:pPr>
            <a:r>
              <a:rPr lang="fr-FR" sz="1400" dirty="0">
                <a:solidFill>
                  <a:srgbClr val="004D40"/>
                </a:solidFill>
                <a:latin typeface="Montserrat" panose="00000500000000000000" pitchFamily="2" charset="0"/>
              </a:rPr>
              <a:t>Les vins autour de 35 € génèrent la majorité du chiffre d’affaires.</a:t>
            </a:r>
          </a:p>
          <a:p>
            <a:pPr>
              <a:buNone/>
            </a:pPr>
            <a:endParaRPr lang="fr-FR" sz="400" dirty="0">
              <a:solidFill>
                <a:srgbClr val="004D40"/>
              </a:solidFill>
              <a:latin typeface="Montserrat" panose="00000500000000000000" pitchFamily="2" charset="0"/>
            </a:endParaRPr>
          </a:p>
          <a:p>
            <a:pPr>
              <a:buNone/>
            </a:pPr>
            <a:endParaRPr lang="fr-FR" sz="400" dirty="0">
              <a:solidFill>
                <a:srgbClr val="004D40"/>
              </a:solidFill>
              <a:latin typeface="Montserrat" panose="00000500000000000000" pitchFamily="2" charset="0"/>
            </a:endParaRPr>
          </a:p>
          <a:p>
            <a:pPr>
              <a:buFont typeface="Wingdings" panose="05000000000000000000" pitchFamily="2" charset="2"/>
              <a:buChar char="ð"/>
            </a:pPr>
            <a:r>
              <a:rPr lang="fr-FR" dirty="0">
                <a:solidFill>
                  <a:srgbClr val="004D40"/>
                </a:solidFill>
                <a:latin typeface="Montserrat" panose="00000500000000000000" pitchFamily="2" charset="0"/>
              </a:rPr>
              <a:t>surveiller les stocks pour éviter les ruptures</a:t>
            </a:r>
          </a:p>
          <a:p>
            <a:pPr>
              <a:buFont typeface="Wingdings" panose="05000000000000000000" pitchFamily="2" charset="2"/>
              <a:buChar char="ð"/>
            </a:pPr>
            <a:r>
              <a:rPr lang="fr-FR" dirty="0">
                <a:solidFill>
                  <a:srgbClr val="004D40"/>
                </a:solidFill>
                <a:latin typeface="Montserrat" panose="00000500000000000000" pitchFamily="2" charset="0"/>
              </a:rPr>
              <a:t>suivre leur performance commerciale</a:t>
            </a:r>
          </a:p>
          <a:p>
            <a:pPr>
              <a:buNone/>
            </a:pPr>
            <a:r>
              <a:rPr lang="fr-FR" dirty="0">
                <a:solidFill>
                  <a:srgbClr val="004D40"/>
                </a:solidFill>
                <a:latin typeface="Montserrat" panose="00000500000000000000" pitchFamily="2" charset="0"/>
              </a:rPr>
              <a:t/>
            </a:r>
            <a:br>
              <a:rPr lang="fr-FR" dirty="0">
                <a:solidFill>
                  <a:srgbClr val="004D40"/>
                </a:solidFill>
                <a:latin typeface="Montserrat" panose="00000500000000000000" pitchFamily="2" charset="0"/>
              </a:rPr>
            </a:br>
            <a:endParaRPr lang="fr-FR" dirty="0">
              <a:solidFill>
                <a:srgbClr val="004D40"/>
              </a:solidFill>
              <a:latin typeface="Montserrat" panose="00000500000000000000" pitchFamily="2" charset="0"/>
            </a:endParaRPr>
          </a:p>
          <a:p>
            <a:pPr>
              <a:buNone/>
            </a:pPr>
            <a:r>
              <a:rPr lang="fr-FR" b="1" dirty="0">
                <a:solidFill>
                  <a:schemeClr val="tx1"/>
                </a:solidFill>
                <a:latin typeface="Montserrat" panose="00000500000000000000" pitchFamily="2" charset="0"/>
              </a:rPr>
              <a:t>Optimiser la longue traîne</a:t>
            </a:r>
          </a:p>
          <a:p>
            <a:pPr>
              <a:buNone/>
            </a:pPr>
            <a:endParaRPr lang="fr-FR" sz="400" dirty="0">
              <a:solidFill>
                <a:srgbClr val="004D40"/>
              </a:solidFill>
              <a:latin typeface="Montserrat" panose="00000500000000000000" pitchFamily="2" charset="0"/>
            </a:endParaRPr>
          </a:p>
          <a:p>
            <a:pPr>
              <a:buNone/>
            </a:pPr>
            <a:r>
              <a:rPr lang="fr-FR" sz="1300" dirty="0">
                <a:solidFill>
                  <a:srgbClr val="004D40"/>
                </a:solidFill>
                <a:latin typeface="Montserrat" panose="00000500000000000000" pitchFamily="2" charset="0"/>
              </a:rPr>
              <a:t>Certaines références se vendent peu et restent longtemps en stock.</a:t>
            </a:r>
          </a:p>
          <a:p>
            <a:pPr>
              <a:buNone/>
            </a:pPr>
            <a:endParaRPr lang="fr-FR" sz="400" dirty="0">
              <a:solidFill>
                <a:srgbClr val="004D40"/>
              </a:solidFill>
              <a:latin typeface="Montserrat" panose="00000500000000000000" pitchFamily="2" charset="0"/>
            </a:endParaRPr>
          </a:p>
          <a:p>
            <a:pPr>
              <a:buNone/>
            </a:pPr>
            <a:endParaRPr lang="fr-FR" sz="400" dirty="0">
              <a:solidFill>
                <a:srgbClr val="004D40"/>
              </a:solidFill>
              <a:latin typeface="Montserrat" panose="00000500000000000000" pitchFamily="2" charset="0"/>
            </a:endParaRPr>
          </a:p>
          <a:p>
            <a:pPr>
              <a:buFont typeface="Wingdings" panose="05000000000000000000" pitchFamily="2" charset="2"/>
              <a:buChar char="ð"/>
            </a:pPr>
            <a:r>
              <a:rPr lang="fr-FR" dirty="0">
                <a:solidFill>
                  <a:srgbClr val="004D40"/>
                </a:solidFill>
                <a:latin typeface="Montserrat" panose="00000500000000000000" pitchFamily="2" charset="0"/>
              </a:rPr>
              <a:t>identifier les produits à rotation lente</a:t>
            </a:r>
          </a:p>
          <a:p>
            <a:pPr>
              <a:buFont typeface="Wingdings" panose="05000000000000000000" pitchFamily="2" charset="2"/>
              <a:buChar char="ð"/>
            </a:pPr>
            <a:r>
              <a:rPr lang="fr-FR" dirty="0">
                <a:solidFill>
                  <a:srgbClr val="004D40"/>
                </a:solidFill>
                <a:latin typeface="Montserrat" panose="00000500000000000000" pitchFamily="2" charset="0"/>
              </a:rPr>
              <a:t>ajuster les prix ou la visibilité</a:t>
            </a:r>
          </a:p>
          <a:p>
            <a:pPr>
              <a:buFont typeface="Wingdings" panose="05000000000000000000" pitchFamily="2" charset="2"/>
              <a:buChar char="ð"/>
            </a:pPr>
            <a:r>
              <a:rPr lang="fr-FR" dirty="0">
                <a:solidFill>
                  <a:srgbClr val="004D40"/>
                </a:solidFill>
                <a:latin typeface="Montserrat" panose="00000500000000000000" pitchFamily="2" charset="0"/>
              </a:rPr>
              <a:t>réduire les volumes d’achat si nécessaire</a:t>
            </a:r>
          </a:p>
          <a:p>
            <a:endParaRPr lang="fr-FR" dirty="0">
              <a:solidFill>
                <a:srgbClr val="004D4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0870646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7"/>
          <p:cNvSpPr/>
          <p:nvPr/>
        </p:nvSpPr>
        <p:spPr>
          <a:xfrm>
            <a:off x="0" y="0"/>
            <a:ext cx="9144000" cy="687881"/>
          </a:xfrm>
          <a:prstGeom prst="rect">
            <a:avLst/>
          </a:prstGeom>
          <a:solidFill>
            <a:srgbClr val="004D40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8" name="Google Shape;88;p7"/>
          <p:cNvSpPr txBox="1"/>
          <p:nvPr/>
        </p:nvSpPr>
        <p:spPr>
          <a:xfrm>
            <a:off x="1464875" y="115181"/>
            <a:ext cx="6954136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>
              <a:buSzPts val="2500"/>
            </a:pPr>
            <a:r>
              <a:rPr lang="fr-FR" sz="2000" dirty="0">
                <a:solidFill>
                  <a:srgbClr val="F3F3F3"/>
                </a:solidFill>
                <a:latin typeface="Montserrat"/>
                <a:ea typeface="Montserrat"/>
                <a:cs typeface="Montserrat"/>
                <a:sym typeface="Montserrat"/>
              </a:rPr>
              <a:t>Actions pour la suite</a:t>
            </a:r>
            <a:endParaRPr lang="fr-FR" sz="2000" dirty="0"/>
          </a:p>
        </p:txBody>
      </p:sp>
      <p:sp>
        <p:nvSpPr>
          <p:cNvPr id="89" name="Google Shape;89;p7"/>
          <p:cNvSpPr/>
          <p:nvPr/>
        </p:nvSpPr>
        <p:spPr>
          <a:xfrm>
            <a:off x="1464875" y="523089"/>
            <a:ext cx="285548" cy="45719"/>
          </a:xfrm>
          <a:prstGeom prst="rect">
            <a:avLst/>
          </a:prstGeom>
          <a:solidFill>
            <a:srgbClr val="F3F3F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" name="Espace réservé du texte 2">
            <a:extLst>
              <a:ext uri="{FF2B5EF4-FFF2-40B4-BE49-F238E27FC236}">
                <a16:creationId xmlns="" xmlns:a16="http://schemas.microsoft.com/office/drawing/2014/main" xmlns:lc="http://schemas.openxmlformats.org/drawingml/2006/lockedCanvas" id="{230B7AED-B3A1-19DD-983E-453CE65AE13B}"/>
              </a:ext>
            </a:extLst>
          </p:cNvPr>
          <p:cNvSpPr>
            <a:spLocks noGrp="1"/>
          </p:cNvSpPr>
          <p:nvPr/>
        </p:nvSpPr>
        <p:spPr>
          <a:xfrm>
            <a:off x="715278" y="757645"/>
            <a:ext cx="7713444" cy="42810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92500" lnSpcReduction="20000"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>
              <a:buNone/>
            </a:pPr>
            <a:r>
              <a:rPr lang="fr-FR" sz="1500" b="1" dirty="0">
                <a:solidFill>
                  <a:srgbClr val="004D40"/>
                </a:solidFill>
                <a:latin typeface="Montserrat" panose="00000500000000000000" pitchFamily="2" charset="0"/>
              </a:rPr>
              <a:t>📊 Amélioration de la gestion des données</a:t>
            </a:r>
          </a:p>
          <a:p>
            <a:pPr>
              <a:buNone/>
            </a:pPr>
            <a:endParaRPr lang="fr-FR" dirty="0">
              <a:solidFill>
                <a:srgbClr val="004D40"/>
              </a:solidFill>
              <a:latin typeface="Montserrat" panose="00000500000000000000" pitchFamily="2" charset="0"/>
            </a:endParaRPr>
          </a:p>
          <a:p>
            <a:pPr>
              <a:buNone/>
            </a:pPr>
            <a:r>
              <a:rPr lang="fr-FR" sz="1500" b="1" dirty="0">
                <a:solidFill>
                  <a:schemeClr val="tx1"/>
                </a:solidFill>
                <a:latin typeface="Montserrat" panose="00000500000000000000" pitchFamily="2" charset="0"/>
              </a:rPr>
              <a:t>Structurer les données pour faciliter les analyses</a:t>
            </a:r>
          </a:p>
          <a:p>
            <a:pPr>
              <a:buNone/>
            </a:pPr>
            <a:endParaRPr lang="fr-FR" sz="300" dirty="0">
              <a:solidFill>
                <a:srgbClr val="004D40"/>
              </a:solidFill>
              <a:latin typeface="Montserrat" panose="00000500000000000000" pitchFamily="2" charset="0"/>
            </a:endParaRPr>
          </a:p>
          <a:p>
            <a:pPr>
              <a:buNone/>
            </a:pPr>
            <a:r>
              <a:rPr lang="fr-FR" sz="1100" dirty="0">
                <a:solidFill>
                  <a:srgbClr val="004D40"/>
                </a:solidFill>
                <a:latin typeface="Montserrat" panose="00000500000000000000" pitchFamily="2" charset="0"/>
              </a:rPr>
              <a:t>Un nouveau fichier XLSX structuré et nettoyé a été créé afin de :</a:t>
            </a:r>
          </a:p>
          <a:p>
            <a:pPr>
              <a:buNone/>
            </a:pPr>
            <a:endParaRPr lang="fr-FR" sz="300" dirty="0">
              <a:solidFill>
                <a:srgbClr val="004D40"/>
              </a:solidFill>
              <a:latin typeface="Montserrat" panose="00000500000000000000" pitchFamily="2" charset="0"/>
            </a:endParaRPr>
          </a:p>
          <a:p>
            <a:pPr>
              <a:buNone/>
            </a:pPr>
            <a:r>
              <a:rPr lang="fr-FR" sz="1500" dirty="0">
                <a:solidFill>
                  <a:srgbClr val="004D40"/>
                </a:solidFill>
                <a:latin typeface="Montserrat" panose="00000500000000000000" pitchFamily="2" charset="0"/>
                <a:sym typeface="Wingdings" panose="05000000000000000000" pitchFamily="2" charset="2"/>
              </a:rPr>
              <a:t> </a:t>
            </a:r>
            <a:r>
              <a:rPr lang="fr-FR" sz="1500" dirty="0">
                <a:solidFill>
                  <a:srgbClr val="004D40"/>
                </a:solidFill>
                <a:latin typeface="Montserrat" panose="00000500000000000000" pitchFamily="2" charset="0"/>
              </a:rPr>
              <a:t>centraliser les données produits</a:t>
            </a:r>
          </a:p>
          <a:p>
            <a:pPr>
              <a:buNone/>
            </a:pPr>
            <a:r>
              <a:rPr lang="fr-FR" sz="1500" dirty="0">
                <a:solidFill>
                  <a:srgbClr val="004D40"/>
                </a:solidFill>
                <a:latin typeface="Montserrat" panose="00000500000000000000" pitchFamily="2" charset="0"/>
                <a:sym typeface="Wingdings" panose="05000000000000000000" pitchFamily="2" charset="2"/>
              </a:rPr>
              <a:t> </a:t>
            </a:r>
            <a:r>
              <a:rPr lang="fr-FR" sz="1500" dirty="0">
                <a:solidFill>
                  <a:srgbClr val="004D40"/>
                </a:solidFill>
                <a:latin typeface="Montserrat" panose="00000500000000000000" pitchFamily="2" charset="0"/>
              </a:rPr>
              <a:t>faciliter les analyses futures</a:t>
            </a:r>
          </a:p>
          <a:p>
            <a:pPr>
              <a:buNone/>
            </a:pPr>
            <a:r>
              <a:rPr lang="fr-FR" sz="1500" dirty="0">
                <a:solidFill>
                  <a:srgbClr val="004D40"/>
                </a:solidFill>
                <a:latin typeface="Montserrat" panose="00000500000000000000" pitchFamily="2" charset="0"/>
              </a:rPr>
              <a:t/>
            </a:r>
            <a:br>
              <a:rPr lang="fr-FR" sz="1500" dirty="0">
                <a:solidFill>
                  <a:srgbClr val="004D40"/>
                </a:solidFill>
                <a:latin typeface="Montserrat" panose="00000500000000000000" pitchFamily="2" charset="0"/>
              </a:rPr>
            </a:br>
            <a:endParaRPr lang="fr-FR" sz="1500" dirty="0">
              <a:solidFill>
                <a:srgbClr val="004D40"/>
              </a:solidFill>
              <a:latin typeface="Montserrat" panose="00000500000000000000" pitchFamily="2" charset="0"/>
            </a:endParaRPr>
          </a:p>
          <a:p>
            <a:pPr>
              <a:buNone/>
            </a:pPr>
            <a:r>
              <a:rPr lang="fr-FR" sz="1500" b="1" dirty="0">
                <a:solidFill>
                  <a:schemeClr val="tx1"/>
                </a:solidFill>
                <a:latin typeface="Montserrat" panose="00000500000000000000" pitchFamily="2" charset="0"/>
              </a:rPr>
              <a:t>Standardiser la saisie des données</a:t>
            </a:r>
          </a:p>
          <a:p>
            <a:pPr>
              <a:buNone/>
            </a:pPr>
            <a:endParaRPr lang="fr-FR" sz="500" b="1" dirty="0">
              <a:solidFill>
                <a:srgbClr val="004D40"/>
              </a:solidFill>
              <a:latin typeface="Montserrat" panose="00000500000000000000" pitchFamily="2" charset="0"/>
            </a:endParaRPr>
          </a:p>
          <a:p>
            <a:pPr>
              <a:buNone/>
            </a:pPr>
            <a:r>
              <a:rPr lang="fr-FR" sz="1100" dirty="0">
                <a:solidFill>
                  <a:srgbClr val="004D40"/>
                </a:solidFill>
                <a:latin typeface="Montserrat" panose="00000500000000000000" pitchFamily="2" charset="0"/>
              </a:rPr>
              <a:t>Le nouveau format permet :</a:t>
            </a:r>
          </a:p>
          <a:p>
            <a:pPr>
              <a:buNone/>
            </a:pPr>
            <a:endParaRPr lang="fr-FR" sz="500" dirty="0">
              <a:solidFill>
                <a:srgbClr val="004D40"/>
              </a:solidFill>
              <a:latin typeface="Montserrat" panose="00000500000000000000" pitchFamily="2" charset="0"/>
            </a:endParaRPr>
          </a:p>
          <a:p>
            <a:pPr>
              <a:buFont typeface="Wingdings" panose="05000000000000000000" pitchFamily="2" charset="2"/>
              <a:buChar char="ð"/>
            </a:pPr>
            <a:r>
              <a:rPr lang="fr-FR" sz="1500" dirty="0">
                <a:solidFill>
                  <a:srgbClr val="004D40"/>
                </a:solidFill>
                <a:latin typeface="Montserrat" panose="00000500000000000000" pitchFamily="2" charset="0"/>
              </a:rPr>
              <a:t>d’éviter les incohérences de données</a:t>
            </a:r>
          </a:p>
          <a:p>
            <a:pPr>
              <a:buFont typeface="Wingdings" panose="05000000000000000000" pitchFamily="2" charset="2"/>
              <a:buChar char="ð"/>
            </a:pPr>
            <a:r>
              <a:rPr lang="fr-FR" sz="1500" dirty="0">
                <a:solidFill>
                  <a:srgbClr val="004D40"/>
                </a:solidFill>
                <a:latin typeface="Montserrat" panose="00000500000000000000" pitchFamily="2" charset="0"/>
              </a:rPr>
              <a:t>d’assurer un suivi plus fiable des ventes et des stocks</a:t>
            </a:r>
          </a:p>
          <a:p>
            <a:pPr>
              <a:buNone/>
            </a:pPr>
            <a:endParaRPr lang="fr-FR" sz="1500" b="1" dirty="0">
              <a:solidFill>
                <a:srgbClr val="004D40"/>
              </a:solidFill>
              <a:latin typeface="Montserrat" panose="00000500000000000000" pitchFamily="2" charset="0"/>
            </a:endParaRPr>
          </a:p>
          <a:p>
            <a:pPr>
              <a:buNone/>
            </a:pPr>
            <a:r>
              <a:rPr lang="fr-FR" sz="1500" b="1" dirty="0">
                <a:solidFill>
                  <a:schemeClr val="tx1"/>
                </a:solidFill>
                <a:latin typeface="Montserrat" panose="00000500000000000000" pitchFamily="2" charset="0"/>
              </a:rPr>
              <a:t>Mettre en place un suivi régulier</a:t>
            </a:r>
          </a:p>
          <a:p>
            <a:pPr>
              <a:buNone/>
            </a:pPr>
            <a:endParaRPr lang="fr-FR" sz="300" b="1" dirty="0">
              <a:solidFill>
                <a:srgbClr val="004D40"/>
              </a:solidFill>
              <a:latin typeface="Montserrat" panose="00000500000000000000" pitchFamily="2" charset="0"/>
            </a:endParaRPr>
          </a:p>
          <a:p>
            <a:pPr>
              <a:buNone/>
            </a:pPr>
            <a:r>
              <a:rPr lang="fr-FR" sz="1000" dirty="0">
                <a:solidFill>
                  <a:srgbClr val="004D40"/>
                </a:solidFill>
                <a:latin typeface="Montserrat" panose="00000500000000000000" pitchFamily="2" charset="0"/>
              </a:rPr>
              <a:t>Le fichier peut servir de base pour suivre :</a:t>
            </a:r>
          </a:p>
          <a:p>
            <a:pPr>
              <a:buNone/>
            </a:pPr>
            <a:endParaRPr lang="fr-FR" sz="300" dirty="0">
              <a:solidFill>
                <a:srgbClr val="004D40"/>
              </a:solidFill>
              <a:latin typeface="Montserrat" panose="00000500000000000000" pitchFamily="2" charset="0"/>
            </a:endParaRPr>
          </a:p>
          <a:p>
            <a:pPr>
              <a:buNone/>
            </a:pPr>
            <a:r>
              <a:rPr lang="fr-FR" sz="1500" dirty="0">
                <a:solidFill>
                  <a:srgbClr val="004D40"/>
                </a:solidFill>
                <a:latin typeface="Montserrat" panose="00000500000000000000" pitchFamily="2" charset="0"/>
                <a:sym typeface="Wingdings" panose="05000000000000000000" pitchFamily="2" charset="2"/>
              </a:rPr>
              <a:t>  </a:t>
            </a:r>
            <a:r>
              <a:rPr lang="fr-FR" sz="1500" dirty="0">
                <a:solidFill>
                  <a:srgbClr val="004D40"/>
                </a:solidFill>
                <a:latin typeface="Montserrat" panose="00000500000000000000" pitchFamily="2" charset="0"/>
              </a:rPr>
              <a:t>chiffre d’affaires par produit</a:t>
            </a:r>
          </a:p>
          <a:p>
            <a:pPr>
              <a:buNone/>
            </a:pPr>
            <a:r>
              <a:rPr lang="fr-FR" sz="1500" dirty="0">
                <a:solidFill>
                  <a:srgbClr val="004D40"/>
                </a:solidFill>
                <a:latin typeface="Montserrat" panose="00000500000000000000" pitchFamily="2" charset="0"/>
                <a:sym typeface="Wingdings" panose="05000000000000000000" pitchFamily="2" charset="2"/>
              </a:rPr>
              <a:t>  </a:t>
            </a:r>
            <a:r>
              <a:rPr lang="fr-FR" sz="1500" dirty="0">
                <a:solidFill>
                  <a:srgbClr val="004D40"/>
                </a:solidFill>
                <a:latin typeface="Montserrat" panose="00000500000000000000" pitchFamily="2" charset="0"/>
              </a:rPr>
              <a:t>rotation des stocks</a:t>
            </a:r>
          </a:p>
          <a:p>
            <a:pPr>
              <a:buNone/>
            </a:pPr>
            <a:r>
              <a:rPr lang="fr-FR" sz="1500" dirty="0">
                <a:solidFill>
                  <a:srgbClr val="004D40"/>
                </a:solidFill>
                <a:latin typeface="Montserrat" panose="00000500000000000000" pitchFamily="2" charset="0"/>
                <a:sym typeface="Wingdings" panose="05000000000000000000" pitchFamily="2" charset="2"/>
              </a:rPr>
              <a:t>  </a:t>
            </a:r>
            <a:r>
              <a:rPr lang="fr-FR" sz="1500" dirty="0">
                <a:solidFill>
                  <a:srgbClr val="004D40"/>
                </a:solidFill>
                <a:latin typeface="Montserrat" panose="00000500000000000000" pitchFamily="2" charset="0"/>
              </a:rPr>
              <a:t>performance du </a:t>
            </a:r>
            <a:r>
              <a:rPr lang="fr-FR" sz="1500" dirty="0" smtClean="0">
                <a:solidFill>
                  <a:srgbClr val="004D40"/>
                </a:solidFill>
                <a:latin typeface="Montserrat" panose="00000500000000000000" pitchFamily="2" charset="0"/>
              </a:rPr>
              <a:t>catalogue</a:t>
            </a:r>
            <a:endParaRPr lang="fr-FR" sz="1500" dirty="0">
              <a:solidFill>
                <a:srgbClr val="004D40"/>
              </a:solidFill>
              <a:latin typeface="Montserrat" panose="000005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3823925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g13f9e8f1567_0_7"/>
          <p:cNvSpPr/>
          <p:nvPr/>
        </p:nvSpPr>
        <p:spPr>
          <a:xfrm>
            <a:off x="0" y="0"/>
            <a:ext cx="9144000" cy="1390200"/>
          </a:xfrm>
          <a:prstGeom prst="rect">
            <a:avLst/>
          </a:prstGeom>
          <a:solidFill>
            <a:srgbClr val="004D40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4" name="Google Shape;104;g13f9e8f1567_0_7"/>
          <p:cNvSpPr txBox="1"/>
          <p:nvPr/>
        </p:nvSpPr>
        <p:spPr>
          <a:xfrm>
            <a:off x="895525" y="337250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rPr lang="fr" sz="2500">
                <a:solidFill>
                  <a:srgbClr val="F3F3F3"/>
                </a:solidFill>
                <a:latin typeface="Montserrat"/>
                <a:ea typeface="Montserrat"/>
                <a:cs typeface="Montserrat"/>
                <a:sym typeface="Montserrat"/>
              </a:rPr>
              <a:t>Point sur les compétences apprises</a:t>
            </a:r>
            <a:endParaRPr/>
          </a:p>
        </p:txBody>
      </p:sp>
      <p:sp>
        <p:nvSpPr>
          <p:cNvPr id="105" name="Google Shape;105;g13f9e8f1567_0_7"/>
          <p:cNvSpPr/>
          <p:nvPr/>
        </p:nvSpPr>
        <p:spPr>
          <a:xfrm>
            <a:off x="1012175" y="993350"/>
            <a:ext cx="452700" cy="50400"/>
          </a:xfrm>
          <a:prstGeom prst="rect">
            <a:avLst/>
          </a:prstGeom>
          <a:solidFill>
            <a:srgbClr val="F3F3F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" name="Google Shape;106;g13f9e8f1567_0_7"/>
          <p:cNvSpPr txBox="1">
            <a:spLocks noGrp="1"/>
          </p:cNvSpPr>
          <p:nvPr/>
        </p:nvSpPr>
        <p:spPr>
          <a:xfrm>
            <a:off x="414000" y="1525515"/>
            <a:ext cx="8316000" cy="32942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buNone/>
            </a:pPr>
            <a:r>
              <a:rPr lang="fr-FR" b="1" u="sng" dirty="0">
                <a:solidFill>
                  <a:srgbClr val="004D40"/>
                </a:solidFill>
                <a:latin typeface="Montserrat" panose="00000500000000000000" pitchFamily="2" charset="0"/>
              </a:rPr>
              <a:t>Ce qui s’est bien passé</a:t>
            </a:r>
          </a:p>
          <a:p>
            <a:pPr>
              <a:buNone/>
            </a:pPr>
            <a:endParaRPr lang="fr-FR" sz="400" u="sng" dirty="0">
              <a:solidFill>
                <a:srgbClr val="4D0801"/>
              </a:solidFill>
              <a:latin typeface="Montserrat" panose="00000500000000000000" pitchFamily="2" charset="0"/>
            </a:endParaRPr>
          </a:p>
          <a:p>
            <a:pPr marL="114300" indent="0">
              <a:buNone/>
            </a:pPr>
            <a:r>
              <a:rPr lang="fr-FR" sz="1500" dirty="0">
                <a:solidFill>
                  <a:schemeClr val="tx1"/>
                </a:solidFill>
                <a:latin typeface="Montserrat" panose="00000500000000000000" pitchFamily="2" charset="0"/>
              </a:rPr>
              <a:t>Le nettoyage des données s’est globalement bien déroulé grâce à la trame méthodologique fournie, qui permet de suivre les étapes de façon structurée.</a:t>
            </a:r>
          </a:p>
          <a:p>
            <a:pPr marL="114300" indent="0">
              <a:buNone/>
            </a:pPr>
            <a:endParaRPr lang="fr-FR" sz="800" dirty="0">
              <a:solidFill>
                <a:schemeClr val="tx1"/>
              </a:solidFill>
              <a:latin typeface="Montserrat" panose="00000500000000000000" pitchFamily="2" charset="0"/>
            </a:endParaRPr>
          </a:p>
          <a:p>
            <a:pPr>
              <a:buNone/>
            </a:pPr>
            <a:r>
              <a:rPr lang="fr-FR" b="1" u="sng" dirty="0">
                <a:solidFill>
                  <a:srgbClr val="004D40"/>
                </a:solidFill>
                <a:latin typeface="Montserrat" panose="00000500000000000000" pitchFamily="2" charset="0"/>
              </a:rPr>
              <a:t>Ce qui a été le plus difficile</a:t>
            </a:r>
          </a:p>
          <a:p>
            <a:pPr>
              <a:buNone/>
            </a:pPr>
            <a:endParaRPr lang="fr-FR" sz="400" u="sng" dirty="0">
              <a:solidFill>
                <a:srgbClr val="4D0801"/>
              </a:solidFill>
              <a:latin typeface="Montserrat" panose="00000500000000000000" pitchFamily="2" charset="0"/>
            </a:endParaRPr>
          </a:p>
          <a:p>
            <a:pPr marL="114300" indent="0">
              <a:buNone/>
            </a:pPr>
            <a:r>
              <a:rPr lang="fr-FR" sz="1500" dirty="0">
                <a:solidFill>
                  <a:schemeClr val="tx1"/>
                </a:solidFill>
                <a:latin typeface="Montserrat" panose="00000500000000000000" pitchFamily="2" charset="0"/>
              </a:rPr>
              <a:t>Prendre la décision de supprimer certaines données pour obtenir un jeu de données propre et exploitable.</a:t>
            </a:r>
          </a:p>
          <a:p>
            <a:pPr marL="114300" indent="0">
              <a:buNone/>
            </a:pPr>
            <a:endParaRPr lang="fr-FR" sz="800" dirty="0">
              <a:solidFill>
                <a:schemeClr val="tx1"/>
              </a:solidFill>
              <a:latin typeface="Montserrat" panose="00000500000000000000" pitchFamily="2" charset="0"/>
            </a:endParaRPr>
          </a:p>
          <a:p>
            <a:pPr>
              <a:buNone/>
            </a:pPr>
            <a:r>
              <a:rPr lang="fr-FR" b="1" u="sng" dirty="0">
                <a:solidFill>
                  <a:srgbClr val="004D40"/>
                </a:solidFill>
                <a:latin typeface="Montserrat" panose="00000500000000000000" pitchFamily="2" charset="0"/>
              </a:rPr>
              <a:t>Axes de progression</a:t>
            </a:r>
          </a:p>
          <a:p>
            <a:pPr>
              <a:buNone/>
            </a:pPr>
            <a:endParaRPr lang="fr-FR" sz="400" u="sng" dirty="0">
              <a:solidFill>
                <a:srgbClr val="4D0801"/>
              </a:solidFill>
              <a:latin typeface="Montserrat" panose="00000500000000000000" pitchFamily="2" charset="0"/>
            </a:endParaRPr>
          </a:p>
          <a:p>
            <a:pPr marL="114300" indent="0">
              <a:buNone/>
            </a:pPr>
            <a:r>
              <a:rPr lang="fr-FR" sz="1500" dirty="0" smtClean="0">
                <a:solidFill>
                  <a:schemeClr val="tx1"/>
                </a:solidFill>
                <a:latin typeface="Montserrat" panose="00000500000000000000" pitchFamily="2" charset="0"/>
              </a:rPr>
              <a:t>Tenter d’avantage de test statistiques notamment le principe de </a:t>
            </a:r>
            <a:r>
              <a:rPr lang="fr-FR" sz="1500" dirty="0" err="1" smtClean="0">
                <a:solidFill>
                  <a:schemeClr val="tx1"/>
                </a:solidFill>
                <a:latin typeface="Montserrat" panose="00000500000000000000" pitchFamily="2" charset="0"/>
              </a:rPr>
              <a:t>pareto</a:t>
            </a:r>
            <a:r>
              <a:rPr lang="fr-FR" sz="1500" dirty="0" smtClean="0">
                <a:solidFill>
                  <a:schemeClr val="tx1"/>
                </a:solidFill>
                <a:latin typeface="Montserrat" panose="00000500000000000000" pitchFamily="2" charset="0"/>
              </a:rPr>
              <a:t> (loi de </a:t>
            </a:r>
            <a:r>
              <a:rPr lang="fr-FR" sz="1500" dirty="0" err="1" smtClean="0">
                <a:solidFill>
                  <a:schemeClr val="tx1"/>
                </a:solidFill>
                <a:latin typeface="Montserrat" panose="00000500000000000000" pitchFamily="2" charset="0"/>
              </a:rPr>
              <a:t>pareto</a:t>
            </a:r>
            <a:r>
              <a:rPr lang="fr-FR" sz="1500" dirty="0" smtClean="0">
                <a:solidFill>
                  <a:schemeClr val="tx1"/>
                </a:solidFill>
                <a:latin typeface="Montserrat" panose="00000500000000000000" pitchFamily="2" charset="0"/>
              </a:rPr>
              <a:t>).</a:t>
            </a:r>
            <a:endParaRPr lang="fr-FR" sz="1500" dirty="0">
              <a:solidFill>
                <a:schemeClr val="tx1"/>
              </a:solidFill>
              <a:latin typeface="Montserrat" panose="00000500000000000000" pitchFamily="2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6236</TotalTime>
  <Words>598</Words>
  <Application>Microsoft Office PowerPoint</Application>
  <PresentationFormat>Affichage à l'écran (16:9)</PresentationFormat>
  <Paragraphs>149</Paragraphs>
  <Slides>18</Slides>
  <Notes>18</Notes>
  <HiddenSlides>0</HiddenSlides>
  <MMClips>0</MMClips>
  <ScaleCrop>false</ScaleCrop>
  <HeadingPairs>
    <vt:vector size="6" baseType="variant">
      <vt:variant>
        <vt:lpstr>Polices utilisées</vt:lpstr>
      </vt:variant>
      <vt:variant>
        <vt:i4>4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18</vt:i4>
      </vt:variant>
    </vt:vector>
  </HeadingPairs>
  <TitlesOfParts>
    <vt:vector size="23" baseType="lpstr">
      <vt:lpstr>Arial</vt:lpstr>
      <vt:lpstr>Montserrat</vt:lpstr>
      <vt:lpstr>Wingdings 3</vt:lpstr>
      <vt:lpstr>Wingdings</vt:lpstr>
      <vt:lpstr>Simple Light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Présentation PowerPoint</dc:title>
  <cp:lastModifiedBy>Fighter</cp:lastModifiedBy>
  <cp:revision>11</cp:revision>
  <dcterms:modified xsi:type="dcterms:W3CDTF">2026-04-11T22:34:36Z</dcterms:modified>
</cp:coreProperties>
</file>